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SCRIPT</a:t>
            </a:r>
          </a:p>
          <a:p/>
          <a:p>
            <a:r>
              <a:t>This presentation summarizes our latest TrafficFlowBench experiments. We started from a five-epoch STAEformer residual model, improved that model, trained an ImputeFormer residual model, and combined the two. We made three new Kaggle submissions. The ensemble achieved the best Public score, improving the previous result from 0.76826 to 0.78255. I will first explain the data and pipeline, then the evaluation setup and the results.</a:t>
            </a:r>
          </a:p>
          <a:p/>
          <a:p>
            <a:r>
              <a:t>SOURCES</a:t>
            </a:r>
          </a:p>
          <a:p>
            <a:r>
              <a:t>docs/task1-upgrade-004-006.md; submissions/003_multitask/result.json; submissions/004_staeformer/result.json; submissions/005_imputeformer/result.json; submissions/006_ensemble/result.json.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SCRIPT</a:t>
            </a:r>
          </a:p>
          <a:p/>
          <a:p>
            <a:r>
              <a:t>The dataset contains synthetic observations from ten directional corridors, with 1,583 mainline links sampled every five minutes. For each corridor, one day forms a 288-by-links array. We first interpolate the visible observations. A residual model then uses the observations, mask and interpolated values to predict a correction. The final estimate is the interpolation plus that correction. During training, we randomly hide eligible observations at rates of 20, 30 or 50 percent and compute the reconstruction loss only there. Evaluation uses the official target coordinates, because not every blank is a prediction target.</a:t>
            </a:r>
          </a:p>
          <a:p/>
          <a:p>
            <a:r>
              <a:t>SOURCES</a:t>
            </a:r>
          </a:p>
          <a:p>
            <a:r>
              <a:t>docs/staeformer-residual.md; docs/task1-upgrade-004-006.md; src/task1/upgrade.py; src/task1/staeformer_data.py.</a:t>
            </a:r>
          </a:p>
          <a:p/>
          <a:p>
            <a:r>
              <a:t>DETAILS FOR QUESTIONS</a:t>
            </a:r>
          </a:p>
          <a:p>
            <a:r>
              <a:t>The basic five channels are observed speed, observed flow per lane, visibility, interpolated speed and interpolated flow per lane. Interpolation uses visible values from the full day, including later observations. This is offline Task 1 reconstruction, not causal Task 2 forecasting. Submitted flow is converted back to vehicles per hour.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SCRIPT</a:t>
            </a:r>
          </a:p>
          <a:p/>
          <a:p>
            <a:r>
              <a:t>The improved STAEformer uses a four-hour window and eight input channels. It adds observation quality and the distance to the previous and next visible observation. It continues a five-epoch checkpoint for fifteen more epochs, giving twenty cumulative epochs. ImputeFormer uses a two-hour window and five data channels, with low-rank attention, and trains for twenty epochs from scratch. For local experiments, we fit on June through December, choose the model and blend using January, then report February results. Submission models are separately refit on all nine training months before predicting the official March and April inputs.</a:t>
            </a:r>
          </a:p>
          <a:p/>
          <a:p>
            <a:r>
              <a:t>SOURCES</a:t>
            </a:r>
          </a:p>
          <a:p>
            <a:r>
              <a:t>configs/task1_upgrade_004_006.json; docs/task1-upgrade-004-006.md; runs/staeformer_upgrade_004/local/history.json; runs/imputeformer_upgrade_005/local/history.json.</a:t>
            </a:r>
          </a:p>
          <a:p/>
          <a:p>
            <a:r>
              <a:t>DETAILS FOR QUESTIONS</a:t>
            </a:r>
          </a:p>
          <a:p>
            <a:r>
              <a:t>STAEformer has temporal/spatial attention; ImputeFormer has projected temporal attention and factorized embedded spatial attention, plus Fourier regularization of 0.01. Both are residual-reconstruction adaptations, not direct reproductions of published benchmark scores. Both use AdamW, BF16, and half-window inference strides. Early stopping was allowed; both selected epoch 20. STAEformer's local warm-start checkpoint was trained only on June–December. The final nine-month checkpoint was used only for submission refitting. Original model code: https://github.com/XDZhelheim/STAEformer and https://github.com/tongnie/ImputeFormer (commit 1c3868cf499951ac43b4fc7280593fbb745f58c7).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SCRIPT</a:t>
            </a:r>
          </a:p>
          <a:p/>
          <a:p>
            <a:r>
              <a:t>These are local Task 1 scores, rather than the overall Kaggle score. The improved STAEformer scored 0.944272 on February, while ImputeFormer scored 0.948697. The ensemble was highest at 0.949252, compared with 0.933377 for the previous model. The graph also shows that the ensemble improved over the previous model in all three masking regimes. We chose one common blend using January: 25 percent STAEformer and 75 percent ImputeFormer. We then evaluated all 3,443,944 official February target cells using that fixed blend.</a:t>
            </a:r>
          </a:p>
          <a:p/>
          <a:p>
            <a:r>
              <a:t>SOURCES</a:t>
            </a:r>
          </a:p>
          <a:p>
            <a:r>
              <a:t>runs/ensemble_006/comparison_with_kaggle.json; runs/ensemble_006/selection_best.json; runs/staeformer_residual_001/test_result.json.</a:t>
            </a:r>
          </a:p>
          <a:p/>
          <a:p>
            <a:r>
              <a:t>DETAILS FOR QUESTIONS</a:t>
            </a:r>
          </a:p>
          <a:p>
            <a:r>
              <a:t>January has 3,645,345 official targets. February has been evaluated in earlier experiments, so it is not a newly untouched independent benchmark. Selection for this experiment used January only. These local results come from June–December fits, not from final submission models refit on all nine months. The regime chart is an equal average over directional panels. Task 1 uses normalized speed and flow-per-lane RMSE; local and Kaggle aggregate scores are different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SCRIPT</a:t>
            </a:r>
          </a:p>
          <a:p/>
          <a:p>
            <a:r>
              <a:t>All three new submissions were scored successfully on Kaggle. The previous Public score was 0.76826. Improved STAEformer reached 0.77803, ImputeFormer reached 0.78138, and the ensemble reached 0.78255. The best absolute improvement is 0.01429. We kept every Task 2 and Task 4 prediction identical to the previous submission. The score change therefore reflects the combined effect of Task 1 reconstruction and Task 3 physical consistency, since both use the same speed and flow predictions. The Public total does not let us separate those two contributions.</a:t>
            </a:r>
          </a:p>
          <a:p/>
          <a:p>
            <a:r>
              <a:t>SOURCES</a:t>
            </a:r>
          </a:p>
          <a:p>
            <a:r>
              <a:t>submissions/003_multitask/result.json (57461328); submissions/004_staeformer/result.json (57468104); submissions/005_imputeformer/result.json (57468122); submissions/006_ensemble/result.json (57468140); runs/ensemble_006/completion_audit.json.</a:t>
            </a:r>
          </a:p>
          <a:p/>
          <a:p>
            <a:r>
              <a:t>DETAILS FOR QUESTIONS</a:t>
            </a:r>
          </a:p>
          <a:p>
            <a:r>
              <a:t>All three new receipts are COMPLETE as checked on 21 October 2026. Each CSV contains 6,980,503 rows: 6,735,795 state, 174,000 queue, and 70,708 ODME. All 244,708 queue/ODME rows match submission 003. Target coverage, uniqueness, finite/nonnegative values, row order, and CSV round-trip checks passed. The three files were frozen before the first upload; the blend was not tuned to Kaggle feedback. Overall scoring weights: 0.35 state + 0.30 queue + 0.15 physics + 0.20 ODME. Private scores have not been released.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SCRIPT</a:t>
            </a:r>
          </a:p>
          <a:p/>
          <a:p>
            <a:r>
              <a:t>The best configuration was the 25 percent STAEformer and 75 percent ImputeFormer ensemble, with a Public score of 0.78255. ImputeFormer was the strongest single model, and combining it with STAEformer added another 0.00117. Our next experiment should make the training masks more similar to the official missingness patterns, including gaps across time and neighboring links. After that, we should change window length, extra features and training duration one at a time to understand which changes are responsible for the gains. The private results are not available yet.</a:t>
            </a:r>
          </a:p>
          <a:p/>
          <a:p>
            <a:r>
              <a:t>SOURCES</a:t>
            </a:r>
          </a:p>
          <a:p>
            <a:r>
              <a:t>runs/ensemble_006/comparison_with_kaggle.json; docs/task1-upgrade-004-006.md; submissions/006_ensemble/result.json.</a:t>
            </a:r>
          </a:p>
          <a:p/>
          <a:p>
            <a:r>
              <a:t>DETAILS FOR QUESTIONS</a:t>
            </a:r>
          </a:p>
          <a:p>
            <a:r>
              <a:t>The STAEformer upgrade changed window length, features, training duration and inference overlap together. The results establish a configuration comparison, not an architecture-only ablation. Independent random training masks differ from the official masking regimes. The proposed next experiments have not been run. All training for the completed experiments used physical GPU 9; creating these slides uses CPU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13816" y="1938528"/>
            <a:ext cx="164592" cy="2816352"/>
          </a:xfrm>
          <a:prstGeom prst="rect">
            <a:avLst/>
          </a:prstGeom>
          <a:solidFill>
            <a:srgbClr val="202020"/>
          </a:solidFill>
          <a:ln>
            <a:noFill/>
          </a:ln>
          <a:effectLst/>
        </p:spPr>
        <p:txBody>
          <a:bodyPr rtlCol="0" anchor="ctr"/>
          <a:lstStyle/>
          <a:p>
            <a:pPr algn="ctr"/>
          </a:p>
        </p:txBody>
      </p:sp>
      <p:sp>
        <p:nvSpPr>
          <p:cNvPr id="3" name="TextBox 2"/>
          <p:cNvSpPr txBox="1"/>
          <p:nvPr/>
        </p:nvSpPr>
        <p:spPr>
          <a:xfrm>
            <a:off x="1344168" y="1956816"/>
            <a:ext cx="10332720" cy="1234440"/>
          </a:xfrm>
          <a:prstGeom prst="rect">
            <a:avLst/>
          </a:prstGeom>
          <a:noFill/>
        </p:spPr>
        <p:txBody>
          <a:bodyPr wrap="none" lIns="0" rIns="0" tIns="0" bIns="0" anchor="t">
            <a:noAutofit/>
          </a:bodyPr>
          <a:lstStyle/>
          <a:p>
            <a:pPr algn="l">
              <a:lnSpc>
                <a:spcPct val="110000"/>
              </a:lnSpc>
              <a:spcBef>
                <a:spcPts val="0"/>
              </a:spcBef>
              <a:spcAft>
                <a:spcPts val="0"/>
              </a:spcAft>
            </a:pPr>
            <a:r>
              <a:rPr sz="3500" b="1">
                <a:solidFill>
                  <a:srgbClr val="000000"/>
                </a:solidFill>
                <a:latin typeface="Noto Sans CJK KR"/>
                <a:ea typeface="Noto Sans CJK KR"/>
              </a:rPr>
              <a:t>TrafficFlowBench 2026</a:t>
            </a:r>
          </a:p>
          <a:p>
            <a:pPr algn="l">
              <a:lnSpc>
                <a:spcPct val="110000"/>
              </a:lnSpc>
              <a:spcBef>
                <a:spcPts val="0"/>
              </a:spcBef>
              <a:spcAft>
                <a:spcPts val="0"/>
              </a:spcAft>
            </a:pPr>
            <a:r>
              <a:rPr sz="3500" b="1">
                <a:solidFill>
                  <a:srgbClr val="000000"/>
                </a:solidFill>
                <a:latin typeface="Noto Sans CJK KR"/>
                <a:ea typeface="Noto Sans CJK KR"/>
              </a:rPr>
              <a:t>Traffic State Reconstruction</a:t>
            </a:r>
          </a:p>
        </p:txBody>
      </p:sp>
      <p:sp>
        <p:nvSpPr>
          <p:cNvPr id="4" name="TextBox 3"/>
          <p:cNvSpPr txBox="1"/>
          <p:nvPr/>
        </p:nvSpPr>
        <p:spPr>
          <a:xfrm>
            <a:off x="1362456" y="3438144"/>
            <a:ext cx="10012680" cy="457200"/>
          </a:xfrm>
          <a:prstGeom prst="rect">
            <a:avLst/>
          </a:prstGeom>
          <a:noFill/>
        </p:spPr>
        <p:txBody>
          <a:bodyPr wrap="none" lIns="0" rIns="0" tIns="0" bIns="0" anchor="t">
            <a:noAutofit/>
          </a:bodyPr>
          <a:lstStyle/>
          <a:p>
            <a:pPr algn="l">
              <a:lnSpc>
                <a:spcPct val="110000"/>
              </a:lnSpc>
              <a:spcBef>
                <a:spcPts val="0"/>
              </a:spcBef>
              <a:spcAft>
                <a:spcPts val="0"/>
              </a:spcAft>
            </a:pPr>
            <a:r>
              <a:rPr sz="2000" b="0">
                <a:solidFill>
                  <a:srgbClr val="202020"/>
                </a:solidFill>
                <a:latin typeface="Noto Sans CJK KR"/>
                <a:ea typeface="Noto Sans CJK KR"/>
              </a:rPr>
              <a:t>STAEformer, ImputeFormer and an ensemble</a:t>
            </a:r>
          </a:p>
        </p:txBody>
      </p:sp>
      <p:cxnSp>
        <p:nvCxnSpPr>
          <p:cNvPr id="5" name="Connector 4"/>
          <p:cNvCxnSpPr/>
          <p:nvPr/>
        </p:nvCxnSpPr>
        <p:spPr>
          <a:xfrm>
            <a:off x="1344168" y="4023360"/>
            <a:ext cx="9573768" cy="0"/>
          </a:xfrm>
          <a:prstGeom prst="line">
            <a:avLst/>
          </a:prstGeom>
          <a:ln w="10160">
            <a:solidFill>
              <a:srgbClr val="000000"/>
            </a:solidFill>
          </a:ln>
          <a:effectLst/>
        </p:spPr>
      </p:cxnSp>
      <p:sp>
        <p:nvSpPr>
          <p:cNvPr id="6" name="TextBox 5"/>
          <p:cNvSpPr txBox="1"/>
          <p:nvPr/>
        </p:nvSpPr>
        <p:spPr>
          <a:xfrm>
            <a:off x="1499616" y="4279392"/>
            <a:ext cx="3749039" cy="621792"/>
          </a:xfrm>
          <a:prstGeom prst="rect">
            <a:avLst/>
          </a:prstGeom>
          <a:noFill/>
        </p:spPr>
        <p:txBody>
          <a:bodyPr wrap="none" lIns="0" rIns="0" tIns="0" bIns="0" anchor="t">
            <a:noAutofit/>
          </a:bodyPr>
          <a:lstStyle/>
          <a:p>
            <a:pPr algn="l">
              <a:lnSpc>
                <a:spcPct val="110000"/>
              </a:lnSpc>
              <a:spcBef>
                <a:spcPts val="0"/>
              </a:spcBef>
              <a:spcAft>
                <a:spcPts val="0"/>
              </a:spcAft>
            </a:pPr>
            <a:r>
              <a:rPr sz="1700" b="0">
                <a:solidFill>
                  <a:srgbClr val="202020"/>
                </a:solidFill>
                <a:latin typeface="Noto Sans CJK KR"/>
                <a:ea typeface="Noto Sans CJK KR"/>
              </a:rPr>
              <a:t>Model comparison</a:t>
            </a:r>
          </a:p>
          <a:p>
            <a:pPr algn="l">
              <a:lnSpc>
                <a:spcPct val="110000"/>
              </a:lnSpc>
              <a:spcBef>
                <a:spcPts val="0"/>
              </a:spcBef>
              <a:spcAft>
                <a:spcPts val="0"/>
              </a:spcAft>
            </a:pPr>
            <a:r>
              <a:rPr sz="1700" b="0">
                <a:solidFill>
                  <a:srgbClr val="202020"/>
                </a:solidFill>
                <a:latin typeface="Noto Sans CJK KR"/>
                <a:ea typeface="Noto Sans CJK KR"/>
              </a:rPr>
              <a:t>Experiments 003–006</a:t>
            </a:r>
          </a:p>
        </p:txBody>
      </p:sp>
      <p:cxnSp>
        <p:nvCxnSpPr>
          <p:cNvPr id="7" name="Connector 6"/>
          <p:cNvCxnSpPr/>
          <p:nvPr/>
        </p:nvCxnSpPr>
        <p:spPr>
          <a:xfrm>
            <a:off x="5495544" y="4288536"/>
            <a:ext cx="0" cy="612648"/>
          </a:xfrm>
          <a:prstGeom prst="line">
            <a:avLst/>
          </a:prstGeom>
          <a:ln w="11430">
            <a:solidFill>
              <a:srgbClr val="000000"/>
            </a:solidFill>
          </a:ln>
          <a:effectLst/>
        </p:spPr>
      </p:cxnSp>
      <p:sp>
        <p:nvSpPr>
          <p:cNvPr id="8" name="TextBox 7"/>
          <p:cNvSpPr txBox="1"/>
          <p:nvPr/>
        </p:nvSpPr>
        <p:spPr>
          <a:xfrm>
            <a:off x="5742432" y="4279392"/>
            <a:ext cx="5212080" cy="621792"/>
          </a:xfrm>
          <a:prstGeom prst="rect">
            <a:avLst/>
          </a:prstGeom>
          <a:noFill/>
        </p:spPr>
        <p:txBody>
          <a:bodyPr wrap="none" lIns="0" rIns="0" tIns="0" bIns="0" anchor="t">
            <a:noAutofit/>
          </a:bodyPr>
          <a:lstStyle/>
          <a:p>
            <a:pPr algn="l">
              <a:lnSpc>
                <a:spcPct val="110000"/>
              </a:lnSpc>
              <a:spcBef>
                <a:spcPts val="0"/>
              </a:spcBef>
              <a:spcAft>
                <a:spcPts val="0"/>
              </a:spcAft>
            </a:pPr>
            <a:r>
              <a:rPr sz="1700" b="0">
                <a:solidFill>
                  <a:srgbClr val="202020"/>
                </a:solidFill>
                <a:latin typeface="Noto Sans CJK KR"/>
                <a:ea typeface="Noto Sans CJK KR"/>
              </a:rPr>
              <a:t>3 new Kaggle submissions</a:t>
            </a:r>
          </a:p>
          <a:p>
            <a:pPr algn="l">
              <a:lnSpc>
                <a:spcPct val="110000"/>
              </a:lnSpc>
              <a:spcBef>
                <a:spcPts val="0"/>
              </a:spcBef>
              <a:spcAft>
                <a:spcPts val="0"/>
              </a:spcAft>
            </a:pPr>
            <a:r>
              <a:rPr sz="1700" b="0">
                <a:solidFill>
                  <a:srgbClr val="202020"/>
                </a:solidFill>
                <a:latin typeface="Noto Sans CJK KR"/>
                <a:ea typeface="Noto Sans CJK KR"/>
              </a:rPr>
              <a:t>21 October 2026</a:t>
            </a:r>
          </a:p>
        </p:txBody>
      </p:sp>
      <p:sp>
        <p:nvSpPr>
          <p:cNvPr id="9" name="TextBox 8"/>
          <p:cNvSpPr txBox="1"/>
          <p:nvPr/>
        </p:nvSpPr>
        <p:spPr>
          <a:xfrm>
            <a:off x="822960" y="6492240"/>
            <a:ext cx="8046720" cy="219456"/>
          </a:xfrm>
          <a:prstGeom prst="rect">
            <a:avLst/>
          </a:prstGeom>
          <a:noFill/>
        </p:spPr>
        <p:txBody>
          <a:bodyPr wrap="none" lIns="0" rIns="0" tIns="0" bIns="0" anchor="t">
            <a:noAutofit/>
          </a:bodyPr>
          <a:lstStyle/>
          <a:p>
            <a:pPr algn="l">
              <a:lnSpc>
                <a:spcPct val="110000"/>
              </a:lnSpc>
              <a:spcBef>
                <a:spcPts val="0"/>
              </a:spcBef>
              <a:spcAft>
                <a:spcPts val="0"/>
              </a:spcAft>
            </a:pPr>
            <a:r>
              <a:rPr sz="1000" b="0">
                <a:solidFill>
                  <a:srgbClr val="626262"/>
                </a:solidFill>
                <a:latin typeface="Noto Sans CJK KR"/>
                <a:ea typeface="Noto Sans CJK KR"/>
              </a:rPr>
              <a:t>2026 IEEE Big Data Traffic Flow Bench</a:t>
            </a:r>
          </a:p>
        </p:txBody>
      </p:sp>
      <p:pic>
        <p:nvPicPr>
          <p:cNvPr id="10" name="Picture 9" descr="logo-000.png"/>
          <p:cNvPicPr>
            <a:picLocks noChangeAspect="1"/>
          </p:cNvPicPr>
          <p:nvPr/>
        </p:nvPicPr>
        <p:blipFill>
          <a:blip r:embed="rId2"/>
          <a:srcRect l="6000" r="4000" t="29000" b="30000"/>
          <a:stretch>
            <a:fillRect/>
          </a:stretch>
        </p:blipFill>
        <p:spPr>
          <a:xfrm>
            <a:off x="9820656" y="5760720"/>
            <a:ext cx="2075688" cy="94559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329184"/>
            <a:ext cx="77724" cy="530352"/>
          </a:xfrm>
          <a:prstGeom prst="rect">
            <a:avLst/>
          </a:prstGeom>
          <a:solidFill>
            <a:srgbClr val="202020"/>
          </a:solidFill>
          <a:ln>
            <a:noFill/>
          </a:ln>
          <a:effectLst/>
        </p:spPr>
        <p:txBody>
          <a:bodyPr rtlCol="0" anchor="ctr"/>
          <a:lstStyle/>
          <a:p>
            <a:pPr algn="ctr"/>
          </a:p>
        </p:txBody>
      </p:sp>
      <p:sp>
        <p:nvSpPr>
          <p:cNvPr id="3" name="TextBox 2"/>
          <p:cNvSpPr txBox="1"/>
          <p:nvPr/>
        </p:nvSpPr>
        <p:spPr>
          <a:xfrm>
            <a:off x="886968" y="292608"/>
            <a:ext cx="10698480" cy="640080"/>
          </a:xfrm>
          <a:prstGeom prst="rect">
            <a:avLst/>
          </a:prstGeom>
          <a:noFill/>
        </p:spPr>
        <p:txBody>
          <a:bodyPr wrap="none" lIns="0" rIns="0" tIns="0" bIns="0" anchor="t">
            <a:noAutofit/>
          </a:bodyPr>
          <a:lstStyle/>
          <a:p>
            <a:pPr algn="l">
              <a:lnSpc>
                <a:spcPct val="110000"/>
              </a:lnSpc>
              <a:spcBef>
                <a:spcPts val="0"/>
              </a:spcBef>
              <a:spcAft>
                <a:spcPts val="0"/>
              </a:spcAft>
            </a:pPr>
            <a:r>
              <a:rPr sz="3000" b="1">
                <a:solidFill>
                  <a:srgbClr val="000000"/>
                </a:solidFill>
                <a:latin typeface="Noto Sans CJK KR"/>
                <a:ea typeface="Noto Sans CJK KR"/>
              </a:rPr>
              <a:t>Data and reconstruction pipeline</a:t>
            </a:r>
          </a:p>
        </p:txBody>
      </p:sp>
      <p:sp>
        <p:nvSpPr>
          <p:cNvPr id="4" name="TextBox 3"/>
          <p:cNvSpPr txBox="1"/>
          <p:nvPr/>
        </p:nvSpPr>
        <p:spPr>
          <a:xfrm>
            <a:off x="694944" y="1051560"/>
            <a:ext cx="10835640" cy="420624"/>
          </a:xfrm>
          <a:prstGeom prst="rect">
            <a:avLst/>
          </a:prstGeom>
          <a:noFill/>
        </p:spPr>
        <p:txBody>
          <a:bodyPr wrap="none" lIns="0" rIns="0" tIns="0" bIns="0" anchor="t">
            <a:noAutofit/>
          </a:bodyPr>
          <a:lstStyle/>
          <a:p>
            <a:pPr algn="l">
              <a:lnSpc>
                <a:spcPct val="110000"/>
              </a:lnSpc>
              <a:spcBef>
                <a:spcPts val="0"/>
              </a:spcBef>
              <a:spcAft>
                <a:spcPts val="0"/>
              </a:spcAft>
            </a:pPr>
            <a:r>
              <a:rPr sz="1650" b="0">
                <a:solidFill>
                  <a:srgbClr val="626262"/>
                </a:solidFill>
                <a:latin typeface="Noto Sans CJK KR"/>
                <a:ea typeface="Noto Sans CJK KR"/>
              </a:rPr>
              <a:t>Synthetic highway observations · Task 1 reconstructs missing speed and flow.</a:t>
            </a:r>
          </a:p>
        </p:txBody>
      </p:sp>
      <p:sp>
        <p:nvSpPr>
          <p:cNvPr id="5" name="TextBox 4"/>
          <p:cNvSpPr txBox="1"/>
          <p:nvPr/>
        </p:nvSpPr>
        <p:spPr>
          <a:xfrm>
            <a:off x="694944" y="6519672"/>
            <a:ext cx="6217920" cy="201168"/>
          </a:xfrm>
          <a:prstGeom prst="rect">
            <a:avLst/>
          </a:prstGeom>
          <a:noFill/>
        </p:spPr>
        <p:txBody>
          <a:bodyPr wrap="none" lIns="0" rIns="0" tIns="0" bIns="0" anchor="t">
            <a:noAutofit/>
          </a:bodyPr>
          <a:lstStyle/>
          <a:p>
            <a:pPr algn="l">
              <a:lnSpc>
                <a:spcPct val="110000"/>
              </a:lnSpc>
              <a:spcBef>
                <a:spcPts val="0"/>
              </a:spcBef>
              <a:spcAft>
                <a:spcPts val="0"/>
              </a:spcAft>
            </a:pPr>
            <a:r>
              <a:rPr sz="900" b="0">
                <a:solidFill>
                  <a:srgbClr val="626262"/>
                </a:solidFill>
                <a:latin typeface="Noto Sans CJK KR"/>
                <a:ea typeface="Noto Sans CJK KR"/>
              </a:rPr>
              <a:t>02  |  Data &amp; method</a:t>
            </a:r>
          </a:p>
        </p:txBody>
      </p:sp>
      <p:pic>
        <p:nvPicPr>
          <p:cNvPr id="6" name="Picture 5" descr="logo-000.png"/>
          <p:cNvPicPr>
            <a:picLocks noChangeAspect="1"/>
          </p:cNvPicPr>
          <p:nvPr/>
        </p:nvPicPr>
        <p:blipFill>
          <a:blip r:embed="rId2"/>
          <a:srcRect l="6000" r="4000" t="29000" b="30000"/>
          <a:stretch>
            <a:fillRect/>
          </a:stretch>
        </p:blipFill>
        <p:spPr>
          <a:xfrm>
            <a:off x="11000232" y="6318504"/>
            <a:ext cx="896112" cy="408228"/>
          </a:xfrm>
          <a:prstGeom prst="rect">
            <a:avLst/>
          </a:prstGeom>
        </p:spPr>
      </p:pic>
      <p:sp>
        <p:nvSpPr>
          <p:cNvPr id="7" name="TextBox 6"/>
          <p:cNvSpPr txBox="1"/>
          <p:nvPr/>
        </p:nvSpPr>
        <p:spPr>
          <a:xfrm>
            <a:off x="713232" y="1719072"/>
            <a:ext cx="2926080" cy="365760"/>
          </a:xfrm>
          <a:prstGeom prst="rect">
            <a:avLst/>
          </a:prstGeom>
          <a:noFill/>
        </p:spPr>
        <p:txBody>
          <a:bodyPr wrap="none" lIns="0" rIns="0" tIns="0" bIns="0" anchor="t">
            <a:noAutofit/>
          </a:bodyPr>
          <a:lstStyle/>
          <a:p>
            <a:pPr algn="l">
              <a:lnSpc>
                <a:spcPct val="110000"/>
              </a:lnSpc>
              <a:spcBef>
                <a:spcPts val="0"/>
              </a:spcBef>
              <a:spcAft>
                <a:spcPts val="0"/>
              </a:spcAft>
            </a:pPr>
            <a:r>
              <a:rPr sz="2000" b="1">
                <a:solidFill>
                  <a:srgbClr val="202020"/>
                </a:solidFill>
                <a:latin typeface="Noto Sans CJK KR"/>
                <a:ea typeface="Noto Sans CJK KR"/>
              </a:rPr>
              <a:t>Dataset</a:t>
            </a:r>
          </a:p>
        </p:txBody>
      </p:sp>
      <p:sp>
        <p:nvSpPr>
          <p:cNvPr id="8" name="TextBox 7"/>
          <p:cNvSpPr txBox="1"/>
          <p:nvPr/>
        </p:nvSpPr>
        <p:spPr>
          <a:xfrm>
            <a:off x="713232" y="2267712"/>
            <a:ext cx="1325880" cy="448056"/>
          </a:xfrm>
          <a:prstGeom prst="rect">
            <a:avLst/>
          </a:prstGeom>
          <a:noFill/>
        </p:spPr>
        <p:txBody>
          <a:bodyPr wrap="none" lIns="0" rIns="0" tIns="0" bIns="0" anchor="t">
            <a:noAutofit/>
          </a:bodyPr>
          <a:lstStyle/>
          <a:p>
            <a:pPr algn="l">
              <a:lnSpc>
                <a:spcPct val="110000"/>
              </a:lnSpc>
              <a:spcBef>
                <a:spcPts val="0"/>
              </a:spcBef>
              <a:spcAft>
                <a:spcPts val="0"/>
              </a:spcAft>
            </a:pPr>
            <a:r>
              <a:rPr sz="2600" b="1">
                <a:solidFill>
                  <a:srgbClr val="202020"/>
                </a:solidFill>
                <a:latin typeface="Noto Sans CJK KR"/>
                <a:ea typeface="Noto Sans CJK KR"/>
              </a:rPr>
              <a:t>10</a:t>
            </a:r>
          </a:p>
        </p:txBody>
      </p:sp>
      <p:sp>
        <p:nvSpPr>
          <p:cNvPr id="9" name="TextBox 8"/>
          <p:cNvSpPr txBox="1"/>
          <p:nvPr/>
        </p:nvSpPr>
        <p:spPr>
          <a:xfrm>
            <a:off x="2103120" y="2359152"/>
            <a:ext cx="2029968" cy="338328"/>
          </a:xfrm>
          <a:prstGeom prst="rect">
            <a:avLst/>
          </a:prstGeom>
          <a:noFill/>
        </p:spPr>
        <p:txBody>
          <a:bodyPr wrap="none" lIns="0" rIns="0" tIns="0" bIns="0" anchor="t">
            <a:noAutofit/>
          </a:bodyPr>
          <a:lstStyle/>
          <a:p>
            <a:pPr algn="l">
              <a:lnSpc>
                <a:spcPct val="110000"/>
              </a:lnSpc>
              <a:spcBef>
                <a:spcPts val="0"/>
              </a:spcBef>
              <a:spcAft>
                <a:spcPts val="0"/>
              </a:spcAft>
            </a:pPr>
            <a:r>
              <a:rPr sz="1530" b="0">
                <a:solidFill>
                  <a:srgbClr val="202020"/>
                </a:solidFill>
                <a:latin typeface="Noto Sans CJK KR"/>
                <a:ea typeface="Noto Sans CJK KR"/>
              </a:rPr>
              <a:t>directional corridors</a:t>
            </a:r>
          </a:p>
        </p:txBody>
      </p:sp>
      <p:sp>
        <p:nvSpPr>
          <p:cNvPr id="10" name="TextBox 9"/>
          <p:cNvSpPr txBox="1"/>
          <p:nvPr/>
        </p:nvSpPr>
        <p:spPr>
          <a:xfrm>
            <a:off x="713232" y="2990088"/>
            <a:ext cx="1325880" cy="448056"/>
          </a:xfrm>
          <a:prstGeom prst="rect">
            <a:avLst/>
          </a:prstGeom>
          <a:noFill/>
        </p:spPr>
        <p:txBody>
          <a:bodyPr wrap="none" lIns="0" rIns="0" tIns="0" bIns="0" anchor="t">
            <a:noAutofit/>
          </a:bodyPr>
          <a:lstStyle/>
          <a:p>
            <a:pPr algn="l">
              <a:lnSpc>
                <a:spcPct val="110000"/>
              </a:lnSpc>
              <a:spcBef>
                <a:spcPts val="0"/>
              </a:spcBef>
              <a:spcAft>
                <a:spcPts val="0"/>
              </a:spcAft>
            </a:pPr>
            <a:r>
              <a:rPr sz="2600" b="1">
                <a:solidFill>
                  <a:srgbClr val="202020"/>
                </a:solidFill>
                <a:latin typeface="Noto Sans CJK KR"/>
                <a:ea typeface="Noto Sans CJK KR"/>
              </a:rPr>
              <a:t>1,583</a:t>
            </a:r>
          </a:p>
        </p:txBody>
      </p:sp>
      <p:sp>
        <p:nvSpPr>
          <p:cNvPr id="11" name="TextBox 10"/>
          <p:cNvSpPr txBox="1"/>
          <p:nvPr/>
        </p:nvSpPr>
        <p:spPr>
          <a:xfrm>
            <a:off x="2103120" y="3081528"/>
            <a:ext cx="2029968" cy="338328"/>
          </a:xfrm>
          <a:prstGeom prst="rect">
            <a:avLst/>
          </a:prstGeom>
          <a:noFill/>
        </p:spPr>
        <p:txBody>
          <a:bodyPr wrap="none" lIns="0" rIns="0" tIns="0" bIns="0" anchor="t">
            <a:noAutofit/>
          </a:bodyPr>
          <a:lstStyle/>
          <a:p>
            <a:pPr algn="l">
              <a:lnSpc>
                <a:spcPct val="110000"/>
              </a:lnSpc>
              <a:spcBef>
                <a:spcPts val="0"/>
              </a:spcBef>
              <a:spcAft>
                <a:spcPts val="0"/>
              </a:spcAft>
            </a:pPr>
            <a:r>
              <a:rPr sz="1530" b="0">
                <a:solidFill>
                  <a:srgbClr val="202020"/>
                </a:solidFill>
                <a:latin typeface="Noto Sans CJK KR"/>
                <a:ea typeface="Noto Sans CJK KR"/>
              </a:rPr>
              <a:t>mainline links</a:t>
            </a:r>
          </a:p>
        </p:txBody>
      </p:sp>
      <p:sp>
        <p:nvSpPr>
          <p:cNvPr id="12" name="TextBox 11"/>
          <p:cNvSpPr txBox="1"/>
          <p:nvPr/>
        </p:nvSpPr>
        <p:spPr>
          <a:xfrm>
            <a:off x="713232" y="3712463"/>
            <a:ext cx="1325880" cy="448056"/>
          </a:xfrm>
          <a:prstGeom prst="rect">
            <a:avLst/>
          </a:prstGeom>
          <a:noFill/>
        </p:spPr>
        <p:txBody>
          <a:bodyPr wrap="none" lIns="0" rIns="0" tIns="0" bIns="0" anchor="t">
            <a:noAutofit/>
          </a:bodyPr>
          <a:lstStyle/>
          <a:p>
            <a:pPr algn="l">
              <a:lnSpc>
                <a:spcPct val="110000"/>
              </a:lnSpc>
              <a:spcBef>
                <a:spcPts val="0"/>
              </a:spcBef>
              <a:spcAft>
                <a:spcPts val="0"/>
              </a:spcAft>
            </a:pPr>
            <a:r>
              <a:rPr sz="2600" b="1">
                <a:solidFill>
                  <a:srgbClr val="202020"/>
                </a:solidFill>
                <a:latin typeface="Noto Sans CJK KR"/>
                <a:ea typeface="Noto Sans CJK KR"/>
              </a:rPr>
              <a:t>5 min</a:t>
            </a:r>
          </a:p>
        </p:txBody>
      </p:sp>
      <p:sp>
        <p:nvSpPr>
          <p:cNvPr id="13" name="TextBox 12"/>
          <p:cNvSpPr txBox="1"/>
          <p:nvPr/>
        </p:nvSpPr>
        <p:spPr>
          <a:xfrm>
            <a:off x="2103120" y="3803903"/>
            <a:ext cx="2029968" cy="338328"/>
          </a:xfrm>
          <a:prstGeom prst="rect">
            <a:avLst/>
          </a:prstGeom>
          <a:noFill/>
        </p:spPr>
        <p:txBody>
          <a:bodyPr wrap="none" lIns="0" rIns="0" tIns="0" bIns="0" anchor="t">
            <a:noAutofit/>
          </a:bodyPr>
          <a:lstStyle/>
          <a:p>
            <a:pPr algn="l">
              <a:lnSpc>
                <a:spcPct val="110000"/>
              </a:lnSpc>
              <a:spcBef>
                <a:spcPts val="0"/>
              </a:spcBef>
              <a:spcAft>
                <a:spcPts val="0"/>
              </a:spcAft>
            </a:pPr>
            <a:r>
              <a:rPr sz="1530" b="0">
                <a:solidFill>
                  <a:srgbClr val="202020"/>
                </a:solidFill>
                <a:latin typeface="Noto Sans CJK KR"/>
                <a:ea typeface="Noto Sans CJK KR"/>
              </a:rPr>
              <a:t>sampling interval</a:t>
            </a:r>
          </a:p>
        </p:txBody>
      </p:sp>
      <p:cxnSp>
        <p:nvCxnSpPr>
          <p:cNvPr id="14" name="Connector 13"/>
          <p:cNvCxnSpPr/>
          <p:nvPr/>
        </p:nvCxnSpPr>
        <p:spPr>
          <a:xfrm>
            <a:off x="713232" y="4416552"/>
            <a:ext cx="3264407" cy="0"/>
          </a:xfrm>
          <a:prstGeom prst="line">
            <a:avLst/>
          </a:prstGeom>
          <a:ln w="10160">
            <a:solidFill>
              <a:srgbClr val="D2D2D2"/>
            </a:solidFill>
          </a:ln>
          <a:effectLst/>
        </p:spPr>
      </p:cxnSp>
      <p:sp>
        <p:nvSpPr>
          <p:cNvPr id="15" name="TextBox 14"/>
          <p:cNvSpPr txBox="1"/>
          <p:nvPr/>
        </p:nvSpPr>
        <p:spPr>
          <a:xfrm>
            <a:off x="713232" y="4590288"/>
            <a:ext cx="3337560" cy="384048"/>
          </a:xfrm>
          <a:prstGeom prst="rect">
            <a:avLst/>
          </a:prstGeom>
          <a:noFill/>
        </p:spPr>
        <p:txBody>
          <a:bodyPr wrap="none" lIns="0" rIns="0" tIns="0" bIns="0" anchor="t">
            <a:noAutofit/>
          </a:bodyPr>
          <a:lstStyle/>
          <a:p>
            <a:pPr algn="l">
              <a:lnSpc>
                <a:spcPct val="110000"/>
              </a:lnSpc>
              <a:spcBef>
                <a:spcPts val="0"/>
              </a:spcBef>
              <a:spcAft>
                <a:spcPts val="0"/>
              </a:spcAft>
            </a:pPr>
            <a:r>
              <a:rPr sz="1800" b="1">
                <a:solidFill>
                  <a:srgbClr val="202020"/>
                </a:solidFill>
                <a:latin typeface="Noto Sans CJK KR"/>
                <a:ea typeface="Noto Sans CJK KR"/>
              </a:rPr>
              <a:t>One day: 288 × N × C</a:t>
            </a:r>
          </a:p>
        </p:txBody>
      </p:sp>
      <p:sp>
        <p:nvSpPr>
          <p:cNvPr id="16" name="TextBox 15"/>
          <p:cNvSpPr txBox="1"/>
          <p:nvPr/>
        </p:nvSpPr>
        <p:spPr>
          <a:xfrm>
            <a:off x="713232" y="5020056"/>
            <a:ext cx="3502152" cy="557784"/>
          </a:xfrm>
          <a:prstGeom prst="rect">
            <a:avLst/>
          </a:prstGeom>
          <a:noFill/>
        </p:spPr>
        <p:txBody>
          <a:bodyPr wrap="none" lIns="0" rIns="0" tIns="0" bIns="0" anchor="t">
            <a:noAutofit/>
          </a:bodyPr>
          <a:lstStyle/>
          <a:p>
            <a:pPr algn="l">
              <a:lnSpc>
                <a:spcPct val="110000"/>
              </a:lnSpc>
              <a:spcBef>
                <a:spcPts val="0"/>
              </a:spcBef>
              <a:spcAft>
                <a:spcPts val="0"/>
              </a:spcAft>
            </a:pPr>
            <a:r>
              <a:rPr sz="1250" b="0">
                <a:solidFill>
                  <a:srgbClr val="626262"/>
                </a:solidFill>
                <a:latin typeface="Noto Sans CJK KR"/>
                <a:ea typeface="Noto Sans CJK KR"/>
              </a:rPr>
              <a:t>N = links in one corridor</a:t>
            </a:r>
          </a:p>
          <a:p>
            <a:pPr algn="l">
              <a:lnSpc>
                <a:spcPct val="110000"/>
              </a:lnSpc>
              <a:spcBef>
                <a:spcPts val="0"/>
              </a:spcBef>
              <a:spcAft>
                <a:spcPts val="0"/>
              </a:spcAft>
            </a:pPr>
            <a:r>
              <a:rPr sz="1250" b="0">
                <a:solidFill>
                  <a:srgbClr val="626262"/>
                </a:solidFill>
                <a:latin typeface="Noto Sans CJK KR"/>
                <a:ea typeface="Noto Sans CJK KR"/>
              </a:rPr>
              <a:t>C = input channels; flow is per lane</a:t>
            </a:r>
          </a:p>
        </p:txBody>
      </p:sp>
      <p:sp>
        <p:nvSpPr>
          <p:cNvPr id="17" name="Rectangle 16"/>
          <p:cNvSpPr/>
          <p:nvPr/>
        </p:nvSpPr>
        <p:spPr>
          <a:xfrm>
            <a:off x="5852160" y="1737360"/>
            <a:ext cx="4069080" cy="566928"/>
          </a:xfrm>
          <a:prstGeom prst="rect">
            <a:avLst/>
          </a:prstGeom>
          <a:solidFill>
            <a:srgbClr val="F1F1F1"/>
          </a:solidFill>
          <a:ln w="10160">
            <a:solidFill>
              <a:srgbClr val="202020"/>
            </a:solidFill>
          </a:ln>
          <a:effectLst/>
        </p:spPr>
        <p:txBody>
          <a:bodyPr rtlCol="0" anchor="ctr"/>
          <a:lstStyle/>
          <a:p>
            <a:pPr algn="ctr"/>
          </a:p>
        </p:txBody>
      </p:sp>
      <p:sp>
        <p:nvSpPr>
          <p:cNvPr id="18" name="TextBox 17"/>
          <p:cNvSpPr txBox="1"/>
          <p:nvPr/>
        </p:nvSpPr>
        <p:spPr>
          <a:xfrm>
            <a:off x="5925312" y="1773936"/>
            <a:ext cx="3922776" cy="493776"/>
          </a:xfrm>
          <a:prstGeom prst="rect">
            <a:avLst/>
          </a:prstGeom>
          <a:noFill/>
        </p:spPr>
        <p:txBody>
          <a:bodyPr wrap="none" lIns="0" rIns="0" tIns="0" bIns="0" anchor="ctr">
            <a:noAutofit/>
          </a:bodyPr>
          <a:lstStyle/>
          <a:p>
            <a:pPr algn="ctr">
              <a:lnSpc>
                <a:spcPct val="110000"/>
              </a:lnSpc>
              <a:spcBef>
                <a:spcPts val="0"/>
              </a:spcBef>
              <a:spcAft>
                <a:spcPts val="0"/>
              </a:spcAft>
            </a:pPr>
            <a:r>
              <a:rPr sz="1700" b="1">
                <a:solidFill>
                  <a:srgbClr val="202020"/>
                </a:solidFill>
                <a:latin typeface="Noto Sans CJK KR"/>
                <a:ea typeface="Noto Sans CJK KR"/>
              </a:rPr>
              <a:t>Masked observations</a:t>
            </a:r>
          </a:p>
        </p:txBody>
      </p:sp>
      <p:cxnSp>
        <p:nvCxnSpPr>
          <p:cNvPr id="19" name="Connector 18"/>
          <p:cNvCxnSpPr/>
          <p:nvPr/>
        </p:nvCxnSpPr>
        <p:spPr>
          <a:xfrm>
            <a:off x="7882127" y="2304288"/>
            <a:ext cx="0" cy="182880"/>
          </a:xfrm>
          <a:prstGeom prst="line">
            <a:avLst/>
          </a:prstGeom>
          <a:ln w="13335">
            <a:solidFill>
              <a:srgbClr val="202020"/>
            </a:solidFill>
          </a:ln>
          <a:effectLst/>
        </p:spPr>
      </p:cxnSp>
      <p:cxnSp>
        <p:nvCxnSpPr>
          <p:cNvPr id="20" name="Connector 19"/>
          <p:cNvCxnSpPr/>
          <p:nvPr/>
        </p:nvCxnSpPr>
        <p:spPr>
          <a:xfrm>
            <a:off x="5943600" y="2487168"/>
            <a:ext cx="3776472" cy="0"/>
          </a:xfrm>
          <a:prstGeom prst="line">
            <a:avLst/>
          </a:prstGeom>
          <a:ln w="13335">
            <a:solidFill>
              <a:srgbClr val="202020"/>
            </a:solidFill>
          </a:ln>
          <a:effectLst/>
        </p:spPr>
      </p:cxnSp>
      <p:cxnSp>
        <p:nvCxnSpPr>
          <p:cNvPr id="21" name="Connector 20"/>
          <p:cNvCxnSpPr/>
          <p:nvPr/>
        </p:nvCxnSpPr>
        <p:spPr>
          <a:xfrm>
            <a:off x="5943600" y="2487168"/>
            <a:ext cx="0" cy="219456"/>
          </a:xfrm>
          <a:prstGeom prst="line">
            <a:avLst/>
          </a:prstGeom>
          <a:ln w="13335">
            <a:solidFill>
              <a:srgbClr val="202020"/>
            </a:solidFill>
            <a:tailEnd type="triangle" w="sm" len="sm"/>
          </a:ln>
          <a:effectLst/>
        </p:spPr>
      </p:cxnSp>
      <p:cxnSp>
        <p:nvCxnSpPr>
          <p:cNvPr id="22" name="Connector 21"/>
          <p:cNvCxnSpPr/>
          <p:nvPr/>
        </p:nvCxnSpPr>
        <p:spPr>
          <a:xfrm>
            <a:off x="9720072" y="2487168"/>
            <a:ext cx="0" cy="219456"/>
          </a:xfrm>
          <a:prstGeom prst="line">
            <a:avLst/>
          </a:prstGeom>
          <a:ln w="13335">
            <a:solidFill>
              <a:srgbClr val="202020"/>
            </a:solidFill>
            <a:tailEnd type="triangle" w="sm" len="sm"/>
          </a:ln>
          <a:effectLst/>
        </p:spPr>
      </p:cxnSp>
      <p:sp>
        <p:nvSpPr>
          <p:cNvPr id="23" name="Rectangle 22"/>
          <p:cNvSpPr/>
          <p:nvPr/>
        </p:nvSpPr>
        <p:spPr>
          <a:xfrm>
            <a:off x="4389120" y="2706624"/>
            <a:ext cx="3108960" cy="731520"/>
          </a:xfrm>
          <a:prstGeom prst="rect">
            <a:avLst/>
          </a:prstGeom>
          <a:solidFill>
            <a:srgbClr val="FFFFFF"/>
          </a:solidFill>
          <a:ln w="10160">
            <a:solidFill>
              <a:srgbClr val="D2D2D2"/>
            </a:solidFill>
          </a:ln>
          <a:effectLst/>
        </p:spPr>
        <p:txBody>
          <a:bodyPr rtlCol="0" anchor="ctr"/>
          <a:lstStyle/>
          <a:p>
            <a:pPr algn="ctr"/>
          </a:p>
        </p:txBody>
      </p:sp>
      <p:sp>
        <p:nvSpPr>
          <p:cNvPr id="24" name="TextBox 23"/>
          <p:cNvSpPr txBox="1"/>
          <p:nvPr/>
        </p:nvSpPr>
        <p:spPr>
          <a:xfrm>
            <a:off x="4462272" y="2743200"/>
            <a:ext cx="2962656" cy="658368"/>
          </a:xfrm>
          <a:prstGeom prst="rect">
            <a:avLst/>
          </a:prstGeom>
          <a:noFill/>
        </p:spPr>
        <p:txBody>
          <a:bodyPr wrap="none" lIns="0" rIns="0" tIns="0" bIns="0" anchor="ctr">
            <a:noAutofit/>
          </a:bodyPr>
          <a:lstStyle/>
          <a:p>
            <a:pPr algn="ctr">
              <a:lnSpc>
                <a:spcPct val="110000"/>
              </a:lnSpc>
              <a:spcBef>
                <a:spcPts val="0"/>
              </a:spcBef>
              <a:spcAft>
                <a:spcPts val="0"/>
              </a:spcAft>
            </a:pPr>
            <a:r>
              <a:rPr sz="1550" b="0">
                <a:solidFill>
                  <a:srgbClr val="202020"/>
                </a:solidFill>
                <a:latin typeface="Noto Sans CJK KR"/>
                <a:ea typeface="Noto Sans CJK KR"/>
              </a:rPr>
              <a:t>Observed speed / flow</a:t>
            </a:r>
          </a:p>
          <a:p>
            <a:pPr algn="ctr">
              <a:lnSpc>
                <a:spcPct val="110000"/>
              </a:lnSpc>
              <a:spcBef>
                <a:spcPts val="0"/>
              </a:spcBef>
              <a:spcAft>
                <a:spcPts val="0"/>
              </a:spcAft>
            </a:pPr>
            <a:r>
              <a:rPr sz="1550" b="0">
                <a:solidFill>
                  <a:srgbClr val="202020"/>
                </a:solidFill>
                <a:latin typeface="Noto Sans CJK KR"/>
                <a:ea typeface="Noto Sans CJK KR"/>
              </a:rPr>
              <a:t>+ visibility mask</a:t>
            </a:r>
          </a:p>
        </p:txBody>
      </p:sp>
      <p:sp>
        <p:nvSpPr>
          <p:cNvPr id="25" name="Rectangle 24"/>
          <p:cNvSpPr/>
          <p:nvPr/>
        </p:nvSpPr>
        <p:spPr>
          <a:xfrm>
            <a:off x="8092440" y="2706624"/>
            <a:ext cx="3255264" cy="731520"/>
          </a:xfrm>
          <a:prstGeom prst="rect">
            <a:avLst/>
          </a:prstGeom>
          <a:solidFill>
            <a:srgbClr val="FFFFFF"/>
          </a:solidFill>
          <a:ln w="10160">
            <a:solidFill>
              <a:srgbClr val="D2D2D2"/>
            </a:solidFill>
          </a:ln>
          <a:effectLst/>
        </p:spPr>
        <p:txBody>
          <a:bodyPr rtlCol="0" anchor="ctr"/>
          <a:lstStyle/>
          <a:p>
            <a:pPr algn="ctr"/>
          </a:p>
        </p:txBody>
      </p:sp>
      <p:sp>
        <p:nvSpPr>
          <p:cNvPr id="26" name="TextBox 25"/>
          <p:cNvSpPr txBox="1"/>
          <p:nvPr/>
        </p:nvSpPr>
        <p:spPr>
          <a:xfrm>
            <a:off x="8165592" y="2743200"/>
            <a:ext cx="3108960" cy="658368"/>
          </a:xfrm>
          <a:prstGeom prst="rect">
            <a:avLst/>
          </a:prstGeom>
          <a:noFill/>
        </p:spPr>
        <p:txBody>
          <a:bodyPr wrap="none" lIns="0" rIns="0" tIns="0" bIns="0" anchor="ctr">
            <a:noAutofit/>
          </a:bodyPr>
          <a:lstStyle/>
          <a:p>
            <a:pPr algn="ctr">
              <a:lnSpc>
                <a:spcPct val="110000"/>
              </a:lnSpc>
              <a:spcBef>
                <a:spcPts val="0"/>
              </a:spcBef>
              <a:spcAft>
                <a:spcPts val="0"/>
              </a:spcAft>
            </a:pPr>
            <a:r>
              <a:rPr sz="1550" b="0">
                <a:solidFill>
                  <a:srgbClr val="202020"/>
                </a:solidFill>
                <a:latin typeface="Noto Sans CJK KR"/>
                <a:ea typeface="Noto Sans CJK KR"/>
              </a:rPr>
              <a:t>Interpolation</a:t>
            </a:r>
          </a:p>
          <a:p>
            <a:pPr algn="ctr">
              <a:lnSpc>
                <a:spcPct val="110000"/>
              </a:lnSpc>
              <a:spcBef>
                <a:spcPts val="0"/>
              </a:spcBef>
              <a:spcAft>
                <a:spcPts val="0"/>
              </a:spcAft>
            </a:pPr>
            <a:r>
              <a:rPr sz="1550" b="0">
                <a:solidFill>
                  <a:srgbClr val="202020"/>
                </a:solidFill>
                <a:latin typeface="Noto Sans CJK KR"/>
                <a:ea typeface="Noto Sans CJK KR"/>
              </a:rPr>
              <a:t>from visible values</a:t>
            </a:r>
          </a:p>
        </p:txBody>
      </p:sp>
      <p:cxnSp>
        <p:nvCxnSpPr>
          <p:cNvPr id="27" name="Connector 26"/>
          <p:cNvCxnSpPr/>
          <p:nvPr/>
        </p:nvCxnSpPr>
        <p:spPr>
          <a:xfrm>
            <a:off x="5943600" y="3438144"/>
            <a:ext cx="0" cy="164592"/>
          </a:xfrm>
          <a:prstGeom prst="line">
            <a:avLst/>
          </a:prstGeom>
          <a:ln w="13335">
            <a:solidFill>
              <a:srgbClr val="202020"/>
            </a:solidFill>
          </a:ln>
          <a:effectLst/>
        </p:spPr>
      </p:cxnSp>
      <p:cxnSp>
        <p:nvCxnSpPr>
          <p:cNvPr id="28" name="Connector 27"/>
          <p:cNvCxnSpPr/>
          <p:nvPr/>
        </p:nvCxnSpPr>
        <p:spPr>
          <a:xfrm>
            <a:off x="5943600" y="3602736"/>
            <a:ext cx="1463040" cy="0"/>
          </a:xfrm>
          <a:prstGeom prst="line">
            <a:avLst/>
          </a:prstGeom>
          <a:ln w="13335">
            <a:solidFill>
              <a:srgbClr val="202020"/>
            </a:solidFill>
          </a:ln>
          <a:effectLst/>
        </p:spPr>
      </p:cxnSp>
      <p:cxnSp>
        <p:nvCxnSpPr>
          <p:cNvPr id="29" name="Connector 28"/>
          <p:cNvCxnSpPr/>
          <p:nvPr/>
        </p:nvCxnSpPr>
        <p:spPr>
          <a:xfrm>
            <a:off x="7406640" y="3602736"/>
            <a:ext cx="0" cy="182879"/>
          </a:xfrm>
          <a:prstGeom prst="line">
            <a:avLst/>
          </a:prstGeom>
          <a:ln w="13335">
            <a:solidFill>
              <a:srgbClr val="202020"/>
            </a:solidFill>
            <a:tailEnd type="triangle" w="sm" len="sm"/>
          </a:ln>
          <a:effectLst/>
        </p:spPr>
      </p:cxnSp>
      <p:cxnSp>
        <p:nvCxnSpPr>
          <p:cNvPr id="30" name="Connector 29"/>
          <p:cNvCxnSpPr/>
          <p:nvPr/>
        </p:nvCxnSpPr>
        <p:spPr>
          <a:xfrm>
            <a:off x="9509760" y="3438144"/>
            <a:ext cx="0" cy="164592"/>
          </a:xfrm>
          <a:prstGeom prst="line">
            <a:avLst/>
          </a:prstGeom>
          <a:ln w="13335">
            <a:solidFill>
              <a:srgbClr val="202020"/>
            </a:solidFill>
          </a:ln>
          <a:effectLst/>
        </p:spPr>
      </p:cxnSp>
      <p:cxnSp>
        <p:nvCxnSpPr>
          <p:cNvPr id="31" name="Connector 30"/>
          <p:cNvCxnSpPr/>
          <p:nvPr/>
        </p:nvCxnSpPr>
        <p:spPr>
          <a:xfrm flipH="1">
            <a:off x="8339327" y="3602736"/>
            <a:ext cx="1170433" cy="0"/>
          </a:xfrm>
          <a:prstGeom prst="line">
            <a:avLst/>
          </a:prstGeom>
          <a:ln w="13335">
            <a:solidFill>
              <a:srgbClr val="202020"/>
            </a:solidFill>
          </a:ln>
          <a:effectLst/>
        </p:spPr>
      </p:cxnSp>
      <p:cxnSp>
        <p:nvCxnSpPr>
          <p:cNvPr id="32" name="Connector 31"/>
          <p:cNvCxnSpPr/>
          <p:nvPr/>
        </p:nvCxnSpPr>
        <p:spPr>
          <a:xfrm>
            <a:off x="8339327" y="3602736"/>
            <a:ext cx="0" cy="182879"/>
          </a:xfrm>
          <a:prstGeom prst="line">
            <a:avLst/>
          </a:prstGeom>
          <a:ln w="13335">
            <a:solidFill>
              <a:srgbClr val="202020"/>
            </a:solidFill>
            <a:tailEnd type="triangle" w="sm" len="sm"/>
          </a:ln>
          <a:effectLst/>
        </p:spPr>
      </p:cxnSp>
      <p:sp>
        <p:nvSpPr>
          <p:cNvPr id="33" name="Rectangle 32"/>
          <p:cNvSpPr/>
          <p:nvPr/>
        </p:nvSpPr>
        <p:spPr>
          <a:xfrm>
            <a:off x="5806440" y="3785615"/>
            <a:ext cx="4160520" cy="658368"/>
          </a:xfrm>
          <a:prstGeom prst="rect">
            <a:avLst/>
          </a:prstGeom>
          <a:solidFill>
            <a:srgbClr val="F1F1F1"/>
          </a:solidFill>
          <a:ln w="10160">
            <a:solidFill>
              <a:srgbClr val="202020"/>
            </a:solidFill>
          </a:ln>
          <a:effectLst/>
        </p:spPr>
        <p:txBody>
          <a:bodyPr rtlCol="0" anchor="ctr"/>
          <a:lstStyle/>
          <a:p>
            <a:pPr algn="ctr"/>
          </a:p>
        </p:txBody>
      </p:sp>
      <p:sp>
        <p:nvSpPr>
          <p:cNvPr id="34" name="TextBox 33"/>
          <p:cNvSpPr txBox="1"/>
          <p:nvPr/>
        </p:nvSpPr>
        <p:spPr>
          <a:xfrm>
            <a:off x="5879592" y="3822191"/>
            <a:ext cx="4014215" cy="585216"/>
          </a:xfrm>
          <a:prstGeom prst="rect">
            <a:avLst/>
          </a:prstGeom>
          <a:noFill/>
        </p:spPr>
        <p:txBody>
          <a:bodyPr wrap="none" lIns="0" rIns="0" tIns="0" bIns="0" anchor="ctr">
            <a:noAutofit/>
          </a:bodyPr>
          <a:lstStyle/>
          <a:p>
            <a:pPr algn="ctr">
              <a:lnSpc>
                <a:spcPct val="110000"/>
              </a:lnSpc>
              <a:spcBef>
                <a:spcPts val="0"/>
              </a:spcBef>
              <a:spcAft>
                <a:spcPts val="0"/>
              </a:spcAft>
            </a:pPr>
            <a:r>
              <a:rPr sz="1520" b="1">
                <a:solidFill>
                  <a:srgbClr val="202020"/>
                </a:solidFill>
                <a:latin typeface="Noto Sans CJK KR"/>
                <a:ea typeface="Noto Sans CJK KR"/>
              </a:rPr>
              <a:t>Residual model → Δspeed, Δflow</a:t>
            </a:r>
          </a:p>
        </p:txBody>
      </p:sp>
      <p:cxnSp>
        <p:nvCxnSpPr>
          <p:cNvPr id="35" name="Connector 34"/>
          <p:cNvCxnSpPr/>
          <p:nvPr/>
        </p:nvCxnSpPr>
        <p:spPr>
          <a:xfrm>
            <a:off x="7882127" y="4443984"/>
            <a:ext cx="0" cy="402336"/>
          </a:xfrm>
          <a:prstGeom prst="line">
            <a:avLst/>
          </a:prstGeom>
          <a:ln w="13335">
            <a:solidFill>
              <a:srgbClr val="202020"/>
            </a:solidFill>
            <a:tailEnd type="triangle" w="sm" len="sm"/>
          </a:ln>
          <a:effectLst/>
        </p:spPr>
      </p:cxnSp>
      <p:cxnSp>
        <p:nvCxnSpPr>
          <p:cNvPr id="36" name="Connector 35"/>
          <p:cNvCxnSpPr/>
          <p:nvPr/>
        </p:nvCxnSpPr>
        <p:spPr>
          <a:xfrm>
            <a:off x="10954512" y="3438144"/>
            <a:ext cx="0" cy="1709928"/>
          </a:xfrm>
          <a:prstGeom prst="line">
            <a:avLst/>
          </a:prstGeom>
          <a:ln w="13335">
            <a:solidFill>
              <a:srgbClr val="202020"/>
            </a:solidFill>
          </a:ln>
          <a:effectLst/>
        </p:spPr>
      </p:cxnSp>
      <p:cxnSp>
        <p:nvCxnSpPr>
          <p:cNvPr id="37" name="Connector 36"/>
          <p:cNvCxnSpPr/>
          <p:nvPr/>
        </p:nvCxnSpPr>
        <p:spPr>
          <a:xfrm flipH="1">
            <a:off x="9966960" y="5148072"/>
            <a:ext cx="987552" cy="0"/>
          </a:xfrm>
          <a:prstGeom prst="line">
            <a:avLst/>
          </a:prstGeom>
          <a:ln w="13335">
            <a:solidFill>
              <a:srgbClr val="202020"/>
            </a:solidFill>
            <a:tailEnd type="triangle" w="sm" len="sm"/>
          </a:ln>
          <a:effectLst/>
        </p:spPr>
      </p:cxnSp>
      <p:sp>
        <p:nvSpPr>
          <p:cNvPr id="38" name="Rectangle 37"/>
          <p:cNvSpPr/>
          <p:nvPr/>
        </p:nvSpPr>
        <p:spPr>
          <a:xfrm>
            <a:off x="5806440" y="4846320"/>
            <a:ext cx="4160520" cy="603504"/>
          </a:xfrm>
          <a:prstGeom prst="rect">
            <a:avLst/>
          </a:prstGeom>
          <a:solidFill>
            <a:srgbClr val="F1F1F1"/>
          </a:solidFill>
          <a:ln w="10160">
            <a:solidFill>
              <a:srgbClr val="202020"/>
            </a:solidFill>
          </a:ln>
          <a:effectLst/>
        </p:spPr>
        <p:txBody>
          <a:bodyPr rtlCol="0" anchor="ctr"/>
          <a:lstStyle/>
          <a:p>
            <a:pPr algn="ctr"/>
          </a:p>
        </p:txBody>
      </p:sp>
      <p:sp>
        <p:nvSpPr>
          <p:cNvPr id="39" name="TextBox 38"/>
          <p:cNvSpPr txBox="1"/>
          <p:nvPr/>
        </p:nvSpPr>
        <p:spPr>
          <a:xfrm>
            <a:off x="5879592" y="4882896"/>
            <a:ext cx="4014215" cy="530352"/>
          </a:xfrm>
          <a:prstGeom prst="rect">
            <a:avLst/>
          </a:prstGeom>
          <a:noFill/>
        </p:spPr>
        <p:txBody>
          <a:bodyPr wrap="none" lIns="0" rIns="0" tIns="0" bIns="0" anchor="ctr">
            <a:noAutofit/>
          </a:bodyPr>
          <a:lstStyle/>
          <a:p>
            <a:pPr algn="ctr">
              <a:lnSpc>
                <a:spcPct val="110000"/>
              </a:lnSpc>
              <a:spcBef>
                <a:spcPts val="0"/>
              </a:spcBef>
              <a:spcAft>
                <a:spcPts val="0"/>
              </a:spcAft>
            </a:pPr>
            <a:r>
              <a:rPr sz="1350" b="1">
                <a:solidFill>
                  <a:srgbClr val="202020"/>
                </a:solidFill>
                <a:latin typeface="Noto Sans CJK KR"/>
                <a:ea typeface="Noto Sans CJK KR"/>
              </a:rPr>
              <a:t>Prediction = interpolation + residual</a:t>
            </a:r>
          </a:p>
        </p:txBody>
      </p:sp>
      <p:cxnSp>
        <p:nvCxnSpPr>
          <p:cNvPr id="40" name="Connector 39"/>
          <p:cNvCxnSpPr/>
          <p:nvPr/>
        </p:nvCxnSpPr>
        <p:spPr>
          <a:xfrm>
            <a:off x="713232" y="5715000"/>
            <a:ext cx="10643616" cy="0"/>
          </a:xfrm>
          <a:prstGeom prst="line">
            <a:avLst/>
          </a:prstGeom>
          <a:ln w="10160">
            <a:solidFill>
              <a:srgbClr val="D2D2D2"/>
            </a:solidFill>
          </a:ln>
          <a:effectLst/>
        </p:spPr>
      </p:cxnSp>
      <p:sp>
        <p:nvSpPr>
          <p:cNvPr id="41" name="TextBox 40"/>
          <p:cNvSpPr txBox="1"/>
          <p:nvPr/>
        </p:nvSpPr>
        <p:spPr>
          <a:xfrm>
            <a:off x="713232" y="5843016"/>
            <a:ext cx="10698480" cy="338328"/>
          </a:xfrm>
          <a:prstGeom prst="rect">
            <a:avLst/>
          </a:prstGeom>
          <a:noFill/>
        </p:spPr>
        <p:txBody>
          <a:bodyPr wrap="none" lIns="0" rIns="0" tIns="0" bIns="0" anchor="t">
            <a:noAutofit/>
          </a:bodyPr>
          <a:lstStyle/>
          <a:p>
            <a:pPr algn="l">
              <a:lnSpc>
                <a:spcPct val="110000"/>
              </a:lnSpc>
              <a:spcBef>
                <a:spcPts val="0"/>
              </a:spcBef>
              <a:spcAft>
                <a:spcPts val="0"/>
              </a:spcAft>
            </a:pPr>
            <a:r>
              <a:rPr sz="1450" b="0">
                <a:solidFill>
                  <a:srgbClr val="202020"/>
                </a:solidFill>
                <a:latin typeface="Noto Sans CJK KR"/>
                <a:ea typeface="Noto Sans CJK KR"/>
              </a:rPr>
              <a:t>Train with 20%, 30% or 50% random masking; compute loss only on hidden eligible cells.</a:t>
            </a:r>
          </a:p>
        </p:txBody>
      </p:sp>
      <p:sp>
        <p:nvSpPr>
          <p:cNvPr id="42" name="TextBox 41"/>
          <p:cNvSpPr txBox="1"/>
          <p:nvPr/>
        </p:nvSpPr>
        <p:spPr>
          <a:xfrm>
            <a:off x="713232" y="6208776"/>
            <a:ext cx="10058400" cy="283464"/>
          </a:xfrm>
          <a:prstGeom prst="rect">
            <a:avLst/>
          </a:prstGeom>
          <a:noFill/>
        </p:spPr>
        <p:txBody>
          <a:bodyPr wrap="none" lIns="0" rIns="0" tIns="0" bIns="0" anchor="t">
            <a:noAutofit/>
          </a:bodyPr>
          <a:lstStyle/>
          <a:p>
            <a:pPr algn="l">
              <a:lnSpc>
                <a:spcPct val="110000"/>
              </a:lnSpc>
              <a:spcBef>
                <a:spcPts val="0"/>
              </a:spcBef>
              <a:spcAft>
                <a:spcPts val="0"/>
              </a:spcAft>
            </a:pPr>
            <a:r>
              <a:rPr sz="1250" b="0">
                <a:solidFill>
                  <a:srgbClr val="626262"/>
                </a:solidFill>
                <a:latin typeface="Noto Sans CJK KR"/>
                <a:ea typeface="Noto Sans CJK KR"/>
              </a:rPr>
              <a:t>Evaluate only the official Task 1 target coordinates. A blank cell is not automatically a target.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329184"/>
            <a:ext cx="77724" cy="530352"/>
          </a:xfrm>
          <a:prstGeom prst="rect">
            <a:avLst/>
          </a:prstGeom>
          <a:solidFill>
            <a:srgbClr val="202020"/>
          </a:solidFill>
          <a:ln>
            <a:noFill/>
          </a:ln>
          <a:effectLst/>
        </p:spPr>
        <p:txBody>
          <a:bodyPr rtlCol="0" anchor="ctr"/>
          <a:lstStyle/>
          <a:p>
            <a:pPr algn="ctr"/>
          </a:p>
        </p:txBody>
      </p:sp>
      <p:sp>
        <p:nvSpPr>
          <p:cNvPr id="3" name="TextBox 2"/>
          <p:cNvSpPr txBox="1"/>
          <p:nvPr/>
        </p:nvSpPr>
        <p:spPr>
          <a:xfrm>
            <a:off x="886968" y="292608"/>
            <a:ext cx="10698480" cy="640080"/>
          </a:xfrm>
          <a:prstGeom prst="rect">
            <a:avLst/>
          </a:prstGeom>
          <a:noFill/>
        </p:spPr>
        <p:txBody>
          <a:bodyPr wrap="none" lIns="0" rIns="0" tIns="0" bIns="0" anchor="t">
            <a:noAutofit/>
          </a:bodyPr>
          <a:lstStyle/>
          <a:p>
            <a:pPr algn="l">
              <a:lnSpc>
                <a:spcPct val="110000"/>
              </a:lnSpc>
              <a:spcBef>
                <a:spcPts val="0"/>
              </a:spcBef>
              <a:spcAft>
                <a:spcPts val="0"/>
              </a:spcAft>
            </a:pPr>
            <a:r>
              <a:rPr sz="3000" b="1">
                <a:solidFill>
                  <a:srgbClr val="000000"/>
                </a:solidFill>
                <a:latin typeface="Noto Sans CJK KR"/>
                <a:ea typeface="Noto Sans CJK KR"/>
              </a:rPr>
              <a:t>Models and evaluation setup</a:t>
            </a:r>
          </a:p>
        </p:txBody>
      </p:sp>
      <p:sp>
        <p:nvSpPr>
          <p:cNvPr id="4" name="TextBox 3"/>
          <p:cNvSpPr txBox="1"/>
          <p:nvPr/>
        </p:nvSpPr>
        <p:spPr>
          <a:xfrm>
            <a:off x="694944" y="1051560"/>
            <a:ext cx="10835640" cy="420624"/>
          </a:xfrm>
          <a:prstGeom prst="rect">
            <a:avLst/>
          </a:prstGeom>
          <a:noFill/>
        </p:spPr>
        <p:txBody>
          <a:bodyPr wrap="none" lIns="0" rIns="0" tIns="0" bIns="0" anchor="t">
            <a:noAutofit/>
          </a:bodyPr>
          <a:lstStyle/>
          <a:p>
            <a:pPr algn="l">
              <a:lnSpc>
                <a:spcPct val="110000"/>
              </a:lnSpc>
              <a:spcBef>
                <a:spcPts val="0"/>
              </a:spcBef>
              <a:spcAft>
                <a:spcPts val="0"/>
              </a:spcAft>
            </a:pPr>
            <a:r>
              <a:rPr sz="1650" b="0">
                <a:solidFill>
                  <a:srgbClr val="626262"/>
                </a:solidFill>
                <a:latin typeface="Noto Sans CJK KR"/>
                <a:ea typeface="Noto Sans CJK KR"/>
              </a:rPr>
              <a:t>Two residual models, one common reconstruction pipeline.</a:t>
            </a:r>
          </a:p>
        </p:txBody>
      </p:sp>
      <p:sp>
        <p:nvSpPr>
          <p:cNvPr id="5" name="TextBox 4"/>
          <p:cNvSpPr txBox="1"/>
          <p:nvPr/>
        </p:nvSpPr>
        <p:spPr>
          <a:xfrm>
            <a:off x="694944" y="6519672"/>
            <a:ext cx="6217920" cy="201168"/>
          </a:xfrm>
          <a:prstGeom prst="rect">
            <a:avLst/>
          </a:prstGeom>
          <a:noFill/>
        </p:spPr>
        <p:txBody>
          <a:bodyPr wrap="none" lIns="0" rIns="0" tIns="0" bIns="0" anchor="t">
            <a:noAutofit/>
          </a:bodyPr>
          <a:lstStyle/>
          <a:p>
            <a:pPr algn="l">
              <a:lnSpc>
                <a:spcPct val="110000"/>
              </a:lnSpc>
              <a:spcBef>
                <a:spcPts val="0"/>
              </a:spcBef>
              <a:spcAft>
                <a:spcPts val="0"/>
              </a:spcAft>
            </a:pPr>
            <a:r>
              <a:rPr sz="900" b="0">
                <a:solidFill>
                  <a:srgbClr val="626262"/>
                </a:solidFill>
                <a:latin typeface="Noto Sans CJK KR"/>
                <a:ea typeface="Noto Sans CJK KR"/>
              </a:rPr>
              <a:t>03  |  Experiment design</a:t>
            </a:r>
          </a:p>
        </p:txBody>
      </p:sp>
      <p:pic>
        <p:nvPicPr>
          <p:cNvPr id="6" name="Picture 5" descr="logo-000.png"/>
          <p:cNvPicPr>
            <a:picLocks noChangeAspect="1"/>
          </p:cNvPicPr>
          <p:nvPr/>
        </p:nvPicPr>
        <p:blipFill>
          <a:blip r:embed="rId2"/>
          <a:srcRect l="6000" r="4000" t="29000" b="30000"/>
          <a:stretch>
            <a:fillRect/>
          </a:stretch>
        </p:blipFill>
        <p:spPr>
          <a:xfrm>
            <a:off x="11000232" y="6318504"/>
            <a:ext cx="896112" cy="408228"/>
          </a:xfrm>
          <a:prstGeom prst="rect">
            <a:avLst/>
          </a:prstGeom>
        </p:spPr>
      </p:pic>
      <p:sp>
        <p:nvSpPr>
          <p:cNvPr id="7" name="TextBox 6"/>
          <p:cNvSpPr txBox="1"/>
          <p:nvPr/>
        </p:nvSpPr>
        <p:spPr>
          <a:xfrm>
            <a:off x="722376" y="1719072"/>
            <a:ext cx="1984248" cy="384048"/>
          </a:xfrm>
          <a:prstGeom prst="rect">
            <a:avLst/>
          </a:prstGeom>
          <a:noFill/>
        </p:spPr>
        <p:txBody>
          <a:bodyPr wrap="none" lIns="0" rIns="0" tIns="0" bIns="0" anchor="t">
            <a:noAutofit/>
          </a:bodyPr>
          <a:lstStyle/>
          <a:p>
            <a:pPr algn="l">
              <a:lnSpc>
                <a:spcPct val="110000"/>
              </a:lnSpc>
              <a:spcBef>
                <a:spcPts val="0"/>
              </a:spcBef>
              <a:spcAft>
                <a:spcPts val="0"/>
              </a:spcAft>
            </a:pPr>
            <a:r>
              <a:rPr sz="1650" b="1">
                <a:solidFill>
                  <a:srgbClr val="202020"/>
                </a:solidFill>
                <a:latin typeface="Noto Sans CJK KR"/>
                <a:ea typeface="Noto Sans CJK KR"/>
              </a:rPr>
              <a:t>Setting</a:t>
            </a:r>
          </a:p>
        </p:txBody>
      </p:sp>
      <p:sp>
        <p:nvSpPr>
          <p:cNvPr id="8" name="TextBox 7"/>
          <p:cNvSpPr txBox="1"/>
          <p:nvPr/>
        </p:nvSpPr>
        <p:spPr>
          <a:xfrm>
            <a:off x="2880360" y="1719072"/>
            <a:ext cx="2596896" cy="384048"/>
          </a:xfrm>
          <a:prstGeom prst="rect">
            <a:avLst/>
          </a:prstGeom>
          <a:noFill/>
        </p:spPr>
        <p:txBody>
          <a:bodyPr wrap="none" lIns="0" rIns="0" tIns="0" bIns="0" anchor="t">
            <a:noAutofit/>
          </a:bodyPr>
          <a:lstStyle/>
          <a:p>
            <a:pPr algn="l">
              <a:lnSpc>
                <a:spcPct val="110000"/>
              </a:lnSpc>
              <a:spcBef>
                <a:spcPts val="0"/>
              </a:spcBef>
              <a:spcAft>
                <a:spcPts val="0"/>
              </a:spcAft>
            </a:pPr>
            <a:r>
              <a:rPr sz="1650" b="1">
                <a:solidFill>
                  <a:srgbClr val="202020"/>
                </a:solidFill>
                <a:latin typeface="Noto Sans CJK KR"/>
                <a:ea typeface="Noto Sans CJK KR"/>
              </a:rPr>
              <a:t>Previous STAEformer</a:t>
            </a:r>
          </a:p>
        </p:txBody>
      </p:sp>
      <p:sp>
        <p:nvSpPr>
          <p:cNvPr id="9" name="TextBox 8"/>
          <p:cNvSpPr txBox="1"/>
          <p:nvPr/>
        </p:nvSpPr>
        <p:spPr>
          <a:xfrm>
            <a:off x="5687568" y="1719072"/>
            <a:ext cx="2798064" cy="384048"/>
          </a:xfrm>
          <a:prstGeom prst="rect">
            <a:avLst/>
          </a:prstGeom>
          <a:noFill/>
        </p:spPr>
        <p:txBody>
          <a:bodyPr wrap="none" lIns="0" rIns="0" tIns="0" bIns="0" anchor="t">
            <a:noAutofit/>
          </a:bodyPr>
          <a:lstStyle/>
          <a:p>
            <a:pPr algn="l">
              <a:lnSpc>
                <a:spcPct val="110000"/>
              </a:lnSpc>
              <a:spcBef>
                <a:spcPts val="0"/>
              </a:spcBef>
              <a:spcAft>
                <a:spcPts val="0"/>
              </a:spcAft>
            </a:pPr>
            <a:r>
              <a:rPr sz="1650" b="1">
                <a:solidFill>
                  <a:srgbClr val="202020"/>
                </a:solidFill>
                <a:latin typeface="Noto Sans CJK KR"/>
                <a:ea typeface="Noto Sans CJK KR"/>
              </a:rPr>
              <a:t>Improved STAEformer</a:t>
            </a:r>
          </a:p>
        </p:txBody>
      </p:sp>
      <p:sp>
        <p:nvSpPr>
          <p:cNvPr id="10" name="TextBox 9"/>
          <p:cNvSpPr txBox="1"/>
          <p:nvPr/>
        </p:nvSpPr>
        <p:spPr>
          <a:xfrm>
            <a:off x="8759952" y="1719072"/>
            <a:ext cx="2606040" cy="384048"/>
          </a:xfrm>
          <a:prstGeom prst="rect">
            <a:avLst/>
          </a:prstGeom>
          <a:noFill/>
        </p:spPr>
        <p:txBody>
          <a:bodyPr wrap="none" lIns="0" rIns="0" tIns="0" bIns="0" anchor="t">
            <a:noAutofit/>
          </a:bodyPr>
          <a:lstStyle/>
          <a:p>
            <a:pPr algn="l">
              <a:lnSpc>
                <a:spcPct val="110000"/>
              </a:lnSpc>
              <a:spcBef>
                <a:spcPts val="0"/>
              </a:spcBef>
              <a:spcAft>
                <a:spcPts val="0"/>
              </a:spcAft>
            </a:pPr>
            <a:r>
              <a:rPr sz="1650" b="1">
                <a:solidFill>
                  <a:srgbClr val="202020"/>
                </a:solidFill>
                <a:latin typeface="Noto Sans CJK KR"/>
                <a:ea typeface="Noto Sans CJK KR"/>
              </a:rPr>
              <a:t>ImputeFormer</a:t>
            </a:r>
          </a:p>
        </p:txBody>
      </p:sp>
      <p:cxnSp>
        <p:nvCxnSpPr>
          <p:cNvPr id="11" name="Connector 10"/>
          <p:cNvCxnSpPr/>
          <p:nvPr/>
        </p:nvCxnSpPr>
        <p:spPr>
          <a:xfrm>
            <a:off x="713232" y="2203704"/>
            <a:ext cx="10652760" cy="0"/>
          </a:xfrm>
          <a:prstGeom prst="line">
            <a:avLst/>
          </a:prstGeom>
          <a:ln w="10795">
            <a:solidFill>
              <a:srgbClr val="202020"/>
            </a:solidFill>
          </a:ln>
          <a:effectLst/>
        </p:spPr>
      </p:cxnSp>
      <p:sp>
        <p:nvSpPr>
          <p:cNvPr id="12" name="TextBox 11"/>
          <p:cNvSpPr txBox="1"/>
          <p:nvPr/>
        </p:nvSpPr>
        <p:spPr>
          <a:xfrm>
            <a:off x="722376" y="2386584"/>
            <a:ext cx="1984248" cy="310896"/>
          </a:xfrm>
          <a:prstGeom prst="rect">
            <a:avLst/>
          </a:prstGeom>
          <a:noFill/>
        </p:spPr>
        <p:txBody>
          <a:bodyPr wrap="none" lIns="0" rIns="0" tIns="0" bIns="0" anchor="t">
            <a:noAutofit/>
          </a:bodyPr>
          <a:lstStyle/>
          <a:p>
            <a:pPr algn="l">
              <a:lnSpc>
                <a:spcPct val="110000"/>
              </a:lnSpc>
              <a:spcBef>
                <a:spcPts val="0"/>
              </a:spcBef>
              <a:spcAft>
                <a:spcPts val="0"/>
              </a:spcAft>
            </a:pPr>
            <a:r>
              <a:rPr sz="1420" b="1">
                <a:solidFill>
                  <a:srgbClr val="202020"/>
                </a:solidFill>
                <a:latin typeface="Noto Sans CJK KR"/>
                <a:ea typeface="Noto Sans CJK KR"/>
              </a:rPr>
              <a:t>Input window</a:t>
            </a:r>
          </a:p>
        </p:txBody>
      </p:sp>
      <p:sp>
        <p:nvSpPr>
          <p:cNvPr id="13" name="TextBox 12"/>
          <p:cNvSpPr txBox="1"/>
          <p:nvPr/>
        </p:nvSpPr>
        <p:spPr>
          <a:xfrm>
            <a:off x="2880360" y="2386584"/>
            <a:ext cx="2596896"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24 steps / 2 h</a:t>
            </a:r>
          </a:p>
        </p:txBody>
      </p:sp>
      <p:sp>
        <p:nvSpPr>
          <p:cNvPr id="14" name="TextBox 13"/>
          <p:cNvSpPr txBox="1"/>
          <p:nvPr/>
        </p:nvSpPr>
        <p:spPr>
          <a:xfrm>
            <a:off x="5687568" y="2386584"/>
            <a:ext cx="2798064"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48 steps / 4 h</a:t>
            </a:r>
          </a:p>
        </p:txBody>
      </p:sp>
      <p:sp>
        <p:nvSpPr>
          <p:cNvPr id="15" name="TextBox 14"/>
          <p:cNvSpPr txBox="1"/>
          <p:nvPr/>
        </p:nvSpPr>
        <p:spPr>
          <a:xfrm>
            <a:off x="8759952" y="2386584"/>
            <a:ext cx="2606040"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24 steps / 2 h</a:t>
            </a:r>
          </a:p>
        </p:txBody>
      </p:sp>
      <p:sp>
        <p:nvSpPr>
          <p:cNvPr id="16" name="TextBox 15"/>
          <p:cNvSpPr txBox="1"/>
          <p:nvPr/>
        </p:nvSpPr>
        <p:spPr>
          <a:xfrm>
            <a:off x="722376" y="2807208"/>
            <a:ext cx="1984248" cy="310896"/>
          </a:xfrm>
          <a:prstGeom prst="rect">
            <a:avLst/>
          </a:prstGeom>
          <a:noFill/>
        </p:spPr>
        <p:txBody>
          <a:bodyPr wrap="none" lIns="0" rIns="0" tIns="0" bIns="0" anchor="t">
            <a:noAutofit/>
          </a:bodyPr>
          <a:lstStyle/>
          <a:p>
            <a:pPr algn="l">
              <a:lnSpc>
                <a:spcPct val="110000"/>
              </a:lnSpc>
              <a:spcBef>
                <a:spcPts val="0"/>
              </a:spcBef>
              <a:spcAft>
                <a:spcPts val="0"/>
              </a:spcAft>
            </a:pPr>
            <a:r>
              <a:rPr sz="1420" b="1">
                <a:solidFill>
                  <a:srgbClr val="202020"/>
                </a:solidFill>
                <a:latin typeface="Noto Sans CJK KR"/>
                <a:ea typeface="Noto Sans CJK KR"/>
              </a:rPr>
              <a:t>Data channels</a:t>
            </a:r>
          </a:p>
        </p:txBody>
      </p:sp>
      <p:sp>
        <p:nvSpPr>
          <p:cNvPr id="17" name="TextBox 16"/>
          <p:cNvSpPr txBox="1"/>
          <p:nvPr/>
        </p:nvSpPr>
        <p:spPr>
          <a:xfrm>
            <a:off x="2880360" y="2807208"/>
            <a:ext cx="2596896"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5</a:t>
            </a:r>
          </a:p>
        </p:txBody>
      </p:sp>
      <p:sp>
        <p:nvSpPr>
          <p:cNvPr id="18" name="TextBox 17"/>
          <p:cNvSpPr txBox="1"/>
          <p:nvPr/>
        </p:nvSpPr>
        <p:spPr>
          <a:xfrm>
            <a:off x="5687568" y="2807208"/>
            <a:ext cx="2798064"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8</a:t>
            </a:r>
          </a:p>
        </p:txBody>
      </p:sp>
      <p:sp>
        <p:nvSpPr>
          <p:cNvPr id="19" name="TextBox 18"/>
          <p:cNvSpPr txBox="1"/>
          <p:nvPr/>
        </p:nvSpPr>
        <p:spPr>
          <a:xfrm>
            <a:off x="8759952" y="2807208"/>
            <a:ext cx="2606040"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5</a:t>
            </a:r>
          </a:p>
        </p:txBody>
      </p:sp>
      <p:sp>
        <p:nvSpPr>
          <p:cNvPr id="20" name="TextBox 19"/>
          <p:cNvSpPr txBox="1"/>
          <p:nvPr/>
        </p:nvSpPr>
        <p:spPr>
          <a:xfrm>
            <a:off x="722376" y="3227832"/>
            <a:ext cx="1984248" cy="310896"/>
          </a:xfrm>
          <a:prstGeom prst="rect">
            <a:avLst/>
          </a:prstGeom>
          <a:noFill/>
        </p:spPr>
        <p:txBody>
          <a:bodyPr wrap="none" lIns="0" rIns="0" tIns="0" bIns="0" anchor="t">
            <a:noAutofit/>
          </a:bodyPr>
          <a:lstStyle/>
          <a:p>
            <a:pPr algn="l">
              <a:lnSpc>
                <a:spcPct val="110000"/>
              </a:lnSpc>
              <a:spcBef>
                <a:spcPts val="0"/>
              </a:spcBef>
              <a:spcAft>
                <a:spcPts val="0"/>
              </a:spcAft>
            </a:pPr>
            <a:r>
              <a:rPr sz="1420" b="1">
                <a:solidFill>
                  <a:srgbClr val="202020"/>
                </a:solidFill>
                <a:latin typeface="Noto Sans CJK KR"/>
                <a:ea typeface="Noto Sans CJK KR"/>
              </a:rPr>
              <a:t>Training</a:t>
            </a:r>
          </a:p>
        </p:txBody>
      </p:sp>
      <p:sp>
        <p:nvSpPr>
          <p:cNvPr id="21" name="TextBox 20"/>
          <p:cNvSpPr txBox="1"/>
          <p:nvPr/>
        </p:nvSpPr>
        <p:spPr>
          <a:xfrm>
            <a:off x="2880360" y="3227832"/>
            <a:ext cx="2596896"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5 epochs</a:t>
            </a:r>
          </a:p>
        </p:txBody>
      </p:sp>
      <p:sp>
        <p:nvSpPr>
          <p:cNvPr id="22" name="TextBox 21"/>
          <p:cNvSpPr txBox="1"/>
          <p:nvPr/>
        </p:nvSpPr>
        <p:spPr>
          <a:xfrm>
            <a:off x="5687568" y="3227832"/>
            <a:ext cx="2798064"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5 + 15 epochs</a:t>
            </a:r>
          </a:p>
        </p:txBody>
      </p:sp>
      <p:sp>
        <p:nvSpPr>
          <p:cNvPr id="23" name="TextBox 22"/>
          <p:cNvSpPr txBox="1"/>
          <p:nvPr/>
        </p:nvSpPr>
        <p:spPr>
          <a:xfrm>
            <a:off x="8759952" y="3227832"/>
            <a:ext cx="2606040"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20 epochs (from scratch)</a:t>
            </a:r>
          </a:p>
        </p:txBody>
      </p:sp>
      <p:sp>
        <p:nvSpPr>
          <p:cNvPr id="24" name="TextBox 23"/>
          <p:cNvSpPr txBox="1"/>
          <p:nvPr/>
        </p:nvSpPr>
        <p:spPr>
          <a:xfrm>
            <a:off x="722376" y="3648456"/>
            <a:ext cx="1984248" cy="310896"/>
          </a:xfrm>
          <a:prstGeom prst="rect">
            <a:avLst/>
          </a:prstGeom>
          <a:noFill/>
        </p:spPr>
        <p:txBody>
          <a:bodyPr wrap="none" lIns="0" rIns="0" tIns="0" bIns="0" anchor="t">
            <a:noAutofit/>
          </a:bodyPr>
          <a:lstStyle/>
          <a:p>
            <a:pPr algn="l">
              <a:lnSpc>
                <a:spcPct val="110000"/>
              </a:lnSpc>
              <a:spcBef>
                <a:spcPts val="0"/>
              </a:spcBef>
              <a:spcAft>
                <a:spcPts val="0"/>
              </a:spcAft>
            </a:pPr>
            <a:r>
              <a:rPr sz="1420" b="1">
                <a:solidFill>
                  <a:srgbClr val="202020"/>
                </a:solidFill>
                <a:latin typeface="Noto Sans CJK KR"/>
                <a:ea typeface="Noto Sans CJK KR"/>
              </a:rPr>
              <a:t>Key difference</a:t>
            </a:r>
          </a:p>
        </p:txBody>
      </p:sp>
      <p:sp>
        <p:nvSpPr>
          <p:cNvPr id="25" name="TextBox 24"/>
          <p:cNvSpPr txBox="1"/>
          <p:nvPr/>
        </p:nvSpPr>
        <p:spPr>
          <a:xfrm>
            <a:off x="2880360" y="3648456"/>
            <a:ext cx="2596896"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Reference model</a:t>
            </a:r>
          </a:p>
        </p:txBody>
      </p:sp>
      <p:sp>
        <p:nvSpPr>
          <p:cNvPr id="26" name="TextBox 25"/>
          <p:cNvSpPr txBox="1"/>
          <p:nvPr/>
        </p:nvSpPr>
        <p:spPr>
          <a:xfrm>
            <a:off x="5687568" y="3648456"/>
            <a:ext cx="2798064"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Quality + time-gap inputs</a:t>
            </a:r>
          </a:p>
        </p:txBody>
      </p:sp>
      <p:sp>
        <p:nvSpPr>
          <p:cNvPr id="27" name="TextBox 26"/>
          <p:cNvSpPr txBox="1"/>
          <p:nvPr/>
        </p:nvSpPr>
        <p:spPr>
          <a:xfrm>
            <a:off x="8759952" y="3648456"/>
            <a:ext cx="2606040" cy="310896"/>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Low-rank attention</a:t>
            </a:r>
          </a:p>
        </p:txBody>
      </p:sp>
      <p:cxnSp>
        <p:nvCxnSpPr>
          <p:cNvPr id="28" name="Connector 27"/>
          <p:cNvCxnSpPr/>
          <p:nvPr/>
        </p:nvCxnSpPr>
        <p:spPr>
          <a:xfrm>
            <a:off x="713232" y="4416552"/>
            <a:ext cx="10652760" cy="0"/>
          </a:xfrm>
          <a:prstGeom prst="line">
            <a:avLst/>
          </a:prstGeom>
          <a:ln w="10160">
            <a:solidFill>
              <a:srgbClr val="D2D2D2"/>
            </a:solidFill>
          </a:ln>
          <a:effectLst/>
        </p:spPr>
      </p:cxnSp>
      <p:sp>
        <p:nvSpPr>
          <p:cNvPr id="29" name="TextBox 28"/>
          <p:cNvSpPr txBox="1"/>
          <p:nvPr/>
        </p:nvSpPr>
        <p:spPr>
          <a:xfrm>
            <a:off x="722376" y="4059936"/>
            <a:ext cx="10698480" cy="283464"/>
          </a:xfrm>
          <a:prstGeom prst="rect">
            <a:avLst/>
          </a:prstGeom>
          <a:noFill/>
        </p:spPr>
        <p:txBody>
          <a:bodyPr wrap="none" lIns="0" rIns="0" tIns="0" bIns="0" anchor="t">
            <a:noAutofit/>
          </a:bodyPr>
          <a:lstStyle/>
          <a:p>
            <a:pPr algn="l">
              <a:lnSpc>
                <a:spcPct val="110000"/>
              </a:lnSpc>
              <a:spcBef>
                <a:spcPts val="0"/>
              </a:spcBef>
              <a:spcAft>
                <a:spcPts val="0"/>
              </a:spcAft>
            </a:pPr>
            <a:r>
              <a:rPr sz="1220" b="0">
                <a:solidFill>
                  <a:srgbClr val="626262"/>
                </a:solidFill>
                <a:latin typeface="Noto Sans CJK KR"/>
                <a:ea typeface="Noto Sans CJK KR"/>
              </a:rPr>
              <a:t>New models: 50% overlapping windows · residual weight 1.0 · seed 42 · physical GPU 9</a:t>
            </a:r>
          </a:p>
        </p:txBody>
      </p:sp>
      <p:sp>
        <p:nvSpPr>
          <p:cNvPr id="30" name="TextBox 29"/>
          <p:cNvSpPr txBox="1"/>
          <p:nvPr/>
        </p:nvSpPr>
        <p:spPr>
          <a:xfrm>
            <a:off x="722376" y="4535424"/>
            <a:ext cx="3246120" cy="246888"/>
          </a:xfrm>
          <a:prstGeom prst="rect">
            <a:avLst/>
          </a:prstGeom>
          <a:noFill/>
        </p:spPr>
        <p:txBody>
          <a:bodyPr wrap="none" lIns="0" rIns="0" tIns="0" bIns="0" anchor="t">
            <a:noAutofit/>
          </a:bodyPr>
          <a:lstStyle/>
          <a:p>
            <a:pPr algn="l">
              <a:lnSpc>
                <a:spcPct val="110000"/>
              </a:lnSpc>
              <a:spcBef>
                <a:spcPts val="0"/>
              </a:spcBef>
              <a:spcAft>
                <a:spcPts val="0"/>
              </a:spcAft>
            </a:pPr>
            <a:r>
              <a:rPr sz="1100" b="1">
                <a:solidFill>
                  <a:srgbClr val="626262"/>
                </a:solidFill>
                <a:latin typeface="Noto Sans CJK KR"/>
                <a:ea typeface="Noto Sans CJK KR"/>
              </a:rPr>
              <a:t>LOCAL FIT</a:t>
            </a:r>
          </a:p>
        </p:txBody>
      </p:sp>
      <p:sp>
        <p:nvSpPr>
          <p:cNvPr id="31" name="Rectangle 30"/>
          <p:cNvSpPr/>
          <p:nvPr/>
        </p:nvSpPr>
        <p:spPr>
          <a:xfrm>
            <a:off x="722376" y="4910328"/>
            <a:ext cx="3246120" cy="594360"/>
          </a:xfrm>
          <a:prstGeom prst="rect">
            <a:avLst/>
          </a:prstGeom>
          <a:solidFill>
            <a:srgbClr val="F1F1F1"/>
          </a:solidFill>
          <a:ln>
            <a:noFill/>
          </a:ln>
          <a:effectLst/>
        </p:spPr>
        <p:txBody>
          <a:bodyPr rtlCol="0" anchor="ctr"/>
          <a:lstStyle/>
          <a:p>
            <a:pPr algn="ctr"/>
          </a:p>
        </p:txBody>
      </p:sp>
      <p:sp>
        <p:nvSpPr>
          <p:cNvPr id="32" name="TextBox 31"/>
          <p:cNvSpPr txBox="1"/>
          <p:nvPr/>
        </p:nvSpPr>
        <p:spPr>
          <a:xfrm>
            <a:off x="850392" y="4983480"/>
            <a:ext cx="2990087" cy="402336"/>
          </a:xfrm>
          <a:prstGeom prst="rect">
            <a:avLst/>
          </a:prstGeom>
          <a:noFill/>
        </p:spPr>
        <p:txBody>
          <a:bodyPr wrap="none" lIns="0" rIns="0" tIns="0" bIns="0" anchor="t">
            <a:noAutofit/>
          </a:bodyPr>
          <a:lstStyle/>
          <a:p>
            <a:pPr algn="l">
              <a:lnSpc>
                <a:spcPct val="110000"/>
              </a:lnSpc>
              <a:spcBef>
                <a:spcPts val="0"/>
              </a:spcBef>
              <a:spcAft>
                <a:spcPts val="0"/>
              </a:spcAft>
            </a:pPr>
            <a:r>
              <a:rPr sz="2000" b="1">
                <a:solidFill>
                  <a:srgbClr val="202020"/>
                </a:solidFill>
                <a:latin typeface="Noto Sans CJK KR"/>
                <a:ea typeface="Noto Sans CJK KR"/>
              </a:rPr>
              <a:t>Jun–Dec 2030</a:t>
            </a:r>
          </a:p>
        </p:txBody>
      </p:sp>
      <p:sp>
        <p:nvSpPr>
          <p:cNvPr id="33" name="TextBox 32"/>
          <p:cNvSpPr txBox="1"/>
          <p:nvPr/>
        </p:nvSpPr>
        <p:spPr>
          <a:xfrm>
            <a:off x="4416552" y="4535424"/>
            <a:ext cx="3264408" cy="246888"/>
          </a:xfrm>
          <a:prstGeom prst="rect">
            <a:avLst/>
          </a:prstGeom>
          <a:noFill/>
        </p:spPr>
        <p:txBody>
          <a:bodyPr wrap="none" lIns="0" rIns="0" tIns="0" bIns="0" anchor="t">
            <a:noAutofit/>
          </a:bodyPr>
          <a:lstStyle/>
          <a:p>
            <a:pPr algn="l">
              <a:lnSpc>
                <a:spcPct val="110000"/>
              </a:lnSpc>
              <a:spcBef>
                <a:spcPts val="0"/>
              </a:spcBef>
              <a:spcAft>
                <a:spcPts val="0"/>
              </a:spcAft>
            </a:pPr>
            <a:r>
              <a:rPr sz="1100" b="1">
                <a:solidFill>
                  <a:srgbClr val="626262"/>
                </a:solidFill>
                <a:latin typeface="Noto Sans CJK KR"/>
                <a:ea typeface="Noto Sans CJK KR"/>
              </a:rPr>
              <a:t>SELECT MODEL / BLEND</a:t>
            </a:r>
          </a:p>
        </p:txBody>
      </p:sp>
      <p:sp>
        <p:nvSpPr>
          <p:cNvPr id="34" name="Rectangle 33"/>
          <p:cNvSpPr/>
          <p:nvPr/>
        </p:nvSpPr>
        <p:spPr>
          <a:xfrm>
            <a:off x="4416552" y="4910328"/>
            <a:ext cx="3264408" cy="594360"/>
          </a:xfrm>
          <a:prstGeom prst="rect">
            <a:avLst/>
          </a:prstGeom>
          <a:solidFill>
            <a:srgbClr val="F1F1F1"/>
          </a:solidFill>
          <a:ln>
            <a:noFill/>
          </a:ln>
          <a:effectLst/>
        </p:spPr>
        <p:txBody>
          <a:bodyPr rtlCol="0" anchor="ctr"/>
          <a:lstStyle/>
          <a:p>
            <a:pPr algn="ctr"/>
          </a:p>
        </p:txBody>
      </p:sp>
      <p:sp>
        <p:nvSpPr>
          <p:cNvPr id="35" name="TextBox 34"/>
          <p:cNvSpPr txBox="1"/>
          <p:nvPr/>
        </p:nvSpPr>
        <p:spPr>
          <a:xfrm>
            <a:off x="4544568" y="4983480"/>
            <a:ext cx="3008376" cy="402336"/>
          </a:xfrm>
          <a:prstGeom prst="rect">
            <a:avLst/>
          </a:prstGeom>
          <a:noFill/>
        </p:spPr>
        <p:txBody>
          <a:bodyPr wrap="none" lIns="0" rIns="0" tIns="0" bIns="0" anchor="t">
            <a:noAutofit/>
          </a:bodyPr>
          <a:lstStyle/>
          <a:p>
            <a:pPr algn="l">
              <a:lnSpc>
                <a:spcPct val="110000"/>
              </a:lnSpc>
              <a:spcBef>
                <a:spcPts val="0"/>
              </a:spcBef>
              <a:spcAft>
                <a:spcPts val="0"/>
              </a:spcAft>
            </a:pPr>
            <a:r>
              <a:rPr sz="2000" b="1">
                <a:solidFill>
                  <a:srgbClr val="202020"/>
                </a:solidFill>
                <a:latin typeface="Noto Sans CJK KR"/>
                <a:ea typeface="Noto Sans CJK KR"/>
              </a:rPr>
              <a:t>Jan 2031</a:t>
            </a:r>
          </a:p>
        </p:txBody>
      </p:sp>
      <p:sp>
        <p:nvSpPr>
          <p:cNvPr id="36" name="TextBox 35"/>
          <p:cNvSpPr txBox="1"/>
          <p:nvPr/>
        </p:nvSpPr>
        <p:spPr>
          <a:xfrm>
            <a:off x="8138160" y="4535424"/>
            <a:ext cx="3218688" cy="246888"/>
          </a:xfrm>
          <a:prstGeom prst="rect">
            <a:avLst/>
          </a:prstGeom>
          <a:noFill/>
        </p:spPr>
        <p:txBody>
          <a:bodyPr wrap="none" lIns="0" rIns="0" tIns="0" bIns="0" anchor="t">
            <a:noAutofit/>
          </a:bodyPr>
          <a:lstStyle/>
          <a:p>
            <a:pPr algn="l">
              <a:lnSpc>
                <a:spcPct val="110000"/>
              </a:lnSpc>
              <a:spcBef>
                <a:spcPts val="0"/>
              </a:spcBef>
              <a:spcAft>
                <a:spcPts val="0"/>
              </a:spcAft>
            </a:pPr>
            <a:r>
              <a:rPr sz="1100" b="1">
                <a:solidFill>
                  <a:srgbClr val="626262"/>
                </a:solidFill>
                <a:latin typeface="Noto Sans CJK KR"/>
                <a:ea typeface="Noto Sans CJK KR"/>
              </a:rPr>
              <a:t>REPORT RESULTS</a:t>
            </a:r>
          </a:p>
        </p:txBody>
      </p:sp>
      <p:sp>
        <p:nvSpPr>
          <p:cNvPr id="37" name="Rectangle 36"/>
          <p:cNvSpPr/>
          <p:nvPr/>
        </p:nvSpPr>
        <p:spPr>
          <a:xfrm>
            <a:off x="8138160" y="4910328"/>
            <a:ext cx="3218688" cy="594360"/>
          </a:xfrm>
          <a:prstGeom prst="rect">
            <a:avLst/>
          </a:prstGeom>
          <a:solidFill>
            <a:srgbClr val="F1F1F1"/>
          </a:solidFill>
          <a:ln>
            <a:noFill/>
          </a:ln>
          <a:effectLst/>
        </p:spPr>
        <p:txBody>
          <a:bodyPr rtlCol="0" anchor="ctr"/>
          <a:lstStyle/>
          <a:p>
            <a:pPr algn="ctr"/>
          </a:p>
        </p:txBody>
      </p:sp>
      <p:sp>
        <p:nvSpPr>
          <p:cNvPr id="38" name="TextBox 37"/>
          <p:cNvSpPr txBox="1"/>
          <p:nvPr/>
        </p:nvSpPr>
        <p:spPr>
          <a:xfrm>
            <a:off x="8266176" y="4983480"/>
            <a:ext cx="2962656" cy="402336"/>
          </a:xfrm>
          <a:prstGeom prst="rect">
            <a:avLst/>
          </a:prstGeom>
          <a:noFill/>
        </p:spPr>
        <p:txBody>
          <a:bodyPr wrap="none" lIns="0" rIns="0" tIns="0" bIns="0" anchor="t">
            <a:noAutofit/>
          </a:bodyPr>
          <a:lstStyle/>
          <a:p>
            <a:pPr algn="l">
              <a:lnSpc>
                <a:spcPct val="110000"/>
              </a:lnSpc>
              <a:spcBef>
                <a:spcPts val="0"/>
              </a:spcBef>
              <a:spcAft>
                <a:spcPts val="0"/>
              </a:spcAft>
            </a:pPr>
            <a:r>
              <a:rPr sz="2000" b="1">
                <a:solidFill>
                  <a:srgbClr val="202020"/>
                </a:solidFill>
                <a:latin typeface="Noto Sans CJK KR"/>
                <a:ea typeface="Noto Sans CJK KR"/>
              </a:rPr>
              <a:t>Feb 2031</a:t>
            </a:r>
          </a:p>
        </p:txBody>
      </p:sp>
      <p:cxnSp>
        <p:nvCxnSpPr>
          <p:cNvPr id="39" name="Connector 38"/>
          <p:cNvCxnSpPr/>
          <p:nvPr/>
        </p:nvCxnSpPr>
        <p:spPr>
          <a:xfrm>
            <a:off x="4041648" y="5212080"/>
            <a:ext cx="274320" cy="0"/>
          </a:xfrm>
          <a:prstGeom prst="line">
            <a:avLst/>
          </a:prstGeom>
          <a:ln w="12700">
            <a:solidFill>
              <a:srgbClr val="202020"/>
            </a:solidFill>
            <a:tailEnd type="triangle" w="sm" len="sm"/>
          </a:ln>
          <a:effectLst/>
        </p:spPr>
      </p:cxnSp>
      <p:cxnSp>
        <p:nvCxnSpPr>
          <p:cNvPr id="40" name="Connector 39"/>
          <p:cNvCxnSpPr/>
          <p:nvPr/>
        </p:nvCxnSpPr>
        <p:spPr>
          <a:xfrm>
            <a:off x="7754112" y="5212080"/>
            <a:ext cx="283463" cy="0"/>
          </a:xfrm>
          <a:prstGeom prst="line">
            <a:avLst/>
          </a:prstGeom>
          <a:ln w="12700">
            <a:solidFill>
              <a:srgbClr val="202020"/>
            </a:solidFill>
            <a:tailEnd type="triangle" w="sm" len="sm"/>
          </a:ln>
          <a:effectLst/>
        </p:spPr>
      </p:cxnSp>
      <p:sp>
        <p:nvSpPr>
          <p:cNvPr id="41" name="TextBox 40"/>
          <p:cNvSpPr txBox="1"/>
          <p:nvPr/>
        </p:nvSpPr>
        <p:spPr>
          <a:xfrm>
            <a:off x="722376" y="5779008"/>
            <a:ext cx="10698480" cy="329184"/>
          </a:xfrm>
          <a:prstGeom prst="rect">
            <a:avLst/>
          </a:prstGeom>
          <a:noFill/>
        </p:spPr>
        <p:txBody>
          <a:bodyPr wrap="none" lIns="0" rIns="0" tIns="0" bIns="0" anchor="t">
            <a:noAutofit/>
          </a:bodyPr>
          <a:lstStyle/>
          <a:p>
            <a:pPr algn="l">
              <a:lnSpc>
                <a:spcPct val="110000"/>
              </a:lnSpc>
              <a:spcBef>
                <a:spcPts val="0"/>
              </a:spcBef>
              <a:spcAft>
                <a:spcPts val="0"/>
              </a:spcAft>
            </a:pPr>
            <a:r>
              <a:rPr sz="1550" b="0">
                <a:solidFill>
                  <a:srgbClr val="202020"/>
                </a:solidFill>
                <a:latin typeface="Noto Sans CJK KR"/>
                <a:ea typeface="Noto Sans CJK KR"/>
              </a:rPr>
              <a:t>Final models: refit on all nine training months → predict the March / April inputs.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329184"/>
            <a:ext cx="77724" cy="530352"/>
          </a:xfrm>
          <a:prstGeom prst="rect">
            <a:avLst/>
          </a:prstGeom>
          <a:solidFill>
            <a:srgbClr val="202020"/>
          </a:solidFill>
          <a:ln>
            <a:noFill/>
          </a:ln>
          <a:effectLst/>
        </p:spPr>
        <p:txBody>
          <a:bodyPr rtlCol="0" anchor="ctr"/>
          <a:lstStyle/>
          <a:p>
            <a:pPr algn="ctr"/>
          </a:p>
        </p:txBody>
      </p:sp>
      <p:sp>
        <p:nvSpPr>
          <p:cNvPr id="3" name="TextBox 2"/>
          <p:cNvSpPr txBox="1"/>
          <p:nvPr/>
        </p:nvSpPr>
        <p:spPr>
          <a:xfrm>
            <a:off x="886968" y="292608"/>
            <a:ext cx="10698480" cy="640080"/>
          </a:xfrm>
          <a:prstGeom prst="rect">
            <a:avLst/>
          </a:prstGeom>
          <a:noFill/>
        </p:spPr>
        <p:txBody>
          <a:bodyPr wrap="none" lIns="0" rIns="0" tIns="0" bIns="0" anchor="t">
            <a:noAutofit/>
          </a:bodyPr>
          <a:lstStyle/>
          <a:p>
            <a:pPr algn="l">
              <a:lnSpc>
                <a:spcPct val="110000"/>
              </a:lnSpc>
              <a:spcBef>
                <a:spcPts val="0"/>
              </a:spcBef>
              <a:spcAft>
                <a:spcPts val="0"/>
              </a:spcAft>
            </a:pPr>
            <a:r>
              <a:rPr sz="3000" b="1">
                <a:solidFill>
                  <a:srgbClr val="000000"/>
                </a:solidFill>
                <a:latin typeface="Noto Sans CJK KR"/>
                <a:ea typeface="Noto Sans CJK KR"/>
              </a:rPr>
              <a:t>Local Task 1 results</a:t>
            </a:r>
          </a:p>
        </p:txBody>
      </p:sp>
      <p:sp>
        <p:nvSpPr>
          <p:cNvPr id="4" name="TextBox 3"/>
          <p:cNvSpPr txBox="1"/>
          <p:nvPr/>
        </p:nvSpPr>
        <p:spPr>
          <a:xfrm>
            <a:off x="694944" y="1051560"/>
            <a:ext cx="10835640" cy="420624"/>
          </a:xfrm>
          <a:prstGeom prst="rect">
            <a:avLst/>
          </a:prstGeom>
          <a:noFill/>
        </p:spPr>
        <p:txBody>
          <a:bodyPr wrap="none" lIns="0" rIns="0" tIns="0" bIns="0" anchor="t">
            <a:noAutofit/>
          </a:bodyPr>
          <a:lstStyle/>
          <a:p>
            <a:pPr algn="l">
              <a:lnSpc>
                <a:spcPct val="110000"/>
              </a:lnSpc>
              <a:spcBef>
                <a:spcPts val="0"/>
              </a:spcBef>
              <a:spcAft>
                <a:spcPts val="0"/>
              </a:spcAft>
            </a:pPr>
            <a:r>
              <a:rPr sz="1650" b="0">
                <a:solidFill>
                  <a:srgbClr val="626262"/>
                </a:solidFill>
                <a:latin typeface="Noto Sans CJK KR"/>
                <a:ea typeface="Noto Sans CJK KR"/>
              </a:rPr>
              <a:t>S_state · higher is better · models trained on Jun–Dec 2030</a:t>
            </a:r>
          </a:p>
        </p:txBody>
      </p:sp>
      <p:sp>
        <p:nvSpPr>
          <p:cNvPr id="5" name="TextBox 4"/>
          <p:cNvSpPr txBox="1"/>
          <p:nvPr/>
        </p:nvSpPr>
        <p:spPr>
          <a:xfrm>
            <a:off x="694944" y="6519672"/>
            <a:ext cx="6217920" cy="201168"/>
          </a:xfrm>
          <a:prstGeom prst="rect">
            <a:avLst/>
          </a:prstGeom>
          <a:noFill/>
        </p:spPr>
        <p:txBody>
          <a:bodyPr wrap="none" lIns="0" rIns="0" tIns="0" bIns="0" anchor="t">
            <a:noAutofit/>
          </a:bodyPr>
          <a:lstStyle/>
          <a:p>
            <a:pPr algn="l">
              <a:lnSpc>
                <a:spcPct val="110000"/>
              </a:lnSpc>
              <a:spcBef>
                <a:spcPts val="0"/>
              </a:spcBef>
              <a:spcAft>
                <a:spcPts val="0"/>
              </a:spcAft>
            </a:pPr>
            <a:r>
              <a:rPr sz="900" b="0">
                <a:solidFill>
                  <a:srgbClr val="626262"/>
                </a:solidFill>
                <a:latin typeface="Noto Sans CJK KR"/>
                <a:ea typeface="Noto Sans CJK KR"/>
              </a:rPr>
              <a:t>04  |  Local evaluation</a:t>
            </a:r>
          </a:p>
        </p:txBody>
      </p:sp>
      <p:pic>
        <p:nvPicPr>
          <p:cNvPr id="6" name="Picture 5" descr="logo-000.png"/>
          <p:cNvPicPr>
            <a:picLocks noChangeAspect="1"/>
          </p:cNvPicPr>
          <p:nvPr/>
        </p:nvPicPr>
        <p:blipFill>
          <a:blip r:embed="rId2"/>
          <a:srcRect l="6000" r="4000" t="29000" b="30000"/>
          <a:stretch>
            <a:fillRect/>
          </a:stretch>
        </p:blipFill>
        <p:spPr>
          <a:xfrm>
            <a:off x="11000232" y="6318504"/>
            <a:ext cx="896112" cy="408228"/>
          </a:xfrm>
          <a:prstGeom prst="rect">
            <a:avLst/>
          </a:prstGeom>
        </p:spPr>
      </p:pic>
      <p:sp>
        <p:nvSpPr>
          <p:cNvPr id="7" name="TextBox 6"/>
          <p:cNvSpPr txBox="1"/>
          <p:nvPr/>
        </p:nvSpPr>
        <p:spPr>
          <a:xfrm>
            <a:off x="722376" y="1737360"/>
            <a:ext cx="3017520" cy="594360"/>
          </a:xfrm>
          <a:prstGeom prst="rect">
            <a:avLst/>
          </a:prstGeom>
          <a:noFill/>
        </p:spPr>
        <p:txBody>
          <a:bodyPr wrap="none" lIns="0" rIns="0" tIns="0" bIns="0" anchor="t">
            <a:noAutofit/>
          </a:bodyPr>
          <a:lstStyle/>
          <a:p>
            <a:pPr algn="l">
              <a:lnSpc>
                <a:spcPct val="110000"/>
              </a:lnSpc>
              <a:spcBef>
                <a:spcPts val="0"/>
              </a:spcBef>
              <a:spcAft>
                <a:spcPts val="0"/>
              </a:spcAft>
            </a:pPr>
            <a:r>
              <a:rPr sz="1700" b="1">
                <a:solidFill>
                  <a:srgbClr val="202020"/>
                </a:solidFill>
                <a:latin typeface="Noto Sans CJK KR"/>
                <a:ea typeface="Noto Sans CJK KR"/>
              </a:rPr>
              <a:t>Model</a:t>
            </a:r>
          </a:p>
        </p:txBody>
      </p:sp>
      <p:sp>
        <p:nvSpPr>
          <p:cNvPr id="8" name="TextBox 7"/>
          <p:cNvSpPr txBox="1"/>
          <p:nvPr/>
        </p:nvSpPr>
        <p:spPr>
          <a:xfrm>
            <a:off x="3794760" y="1645920"/>
            <a:ext cx="1572768" cy="621792"/>
          </a:xfrm>
          <a:prstGeom prst="rect">
            <a:avLst/>
          </a:prstGeom>
          <a:noFill/>
        </p:spPr>
        <p:txBody>
          <a:bodyPr wrap="none" lIns="0" rIns="0" tIns="0" bIns="0" anchor="t">
            <a:noAutofit/>
          </a:bodyPr>
          <a:lstStyle/>
          <a:p>
            <a:pPr algn="r">
              <a:lnSpc>
                <a:spcPct val="110000"/>
              </a:lnSpc>
              <a:spcBef>
                <a:spcPts val="0"/>
              </a:spcBef>
              <a:spcAft>
                <a:spcPts val="0"/>
              </a:spcAft>
            </a:pPr>
            <a:r>
              <a:rPr sz="1550" b="1">
                <a:solidFill>
                  <a:srgbClr val="202020"/>
                </a:solidFill>
                <a:latin typeface="Noto Sans CJK KR"/>
                <a:ea typeface="Noto Sans CJK KR"/>
              </a:rPr>
              <a:t>January</a:t>
            </a:r>
          </a:p>
          <a:p>
            <a:pPr algn="r">
              <a:lnSpc>
                <a:spcPct val="110000"/>
              </a:lnSpc>
              <a:spcBef>
                <a:spcPts val="0"/>
              </a:spcBef>
              <a:spcAft>
                <a:spcPts val="0"/>
              </a:spcAft>
            </a:pPr>
            <a:r>
              <a:rPr sz="1550" b="1">
                <a:solidFill>
                  <a:srgbClr val="202020"/>
                </a:solidFill>
                <a:latin typeface="Noto Sans CJK KR"/>
                <a:ea typeface="Noto Sans CJK KR"/>
              </a:rPr>
              <a:t>selection</a:t>
            </a:r>
          </a:p>
        </p:txBody>
      </p:sp>
      <p:sp>
        <p:nvSpPr>
          <p:cNvPr id="9" name="TextBox 8"/>
          <p:cNvSpPr txBox="1"/>
          <p:nvPr/>
        </p:nvSpPr>
        <p:spPr>
          <a:xfrm>
            <a:off x="5623560" y="1645920"/>
            <a:ext cx="1572768" cy="621792"/>
          </a:xfrm>
          <a:prstGeom prst="rect">
            <a:avLst/>
          </a:prstGeom>
          <a:noFill/>
        </p:spPr>
        <p:txBody>
          <a:bodyPr wrap="none" lIns="0" rIns="0" tIns="0" bIns="0" anchor="t">
            <a:noAutofit/>
          </a:bodyPr>
          <a:lstStyle/>
          <a:p>
            <a:pPr algn="r">
              <a:lnSpc>
                <a:spcPct val="110000"/>
              </a:lnSpc>
              <a:spcBef>
                <a:spcPts val="0"/>
              </a:spcBef>
              <a:spcAft>
                <a:spcPts val="0"/>
              </a:spcAft>
            </a:pPr>
            <a:r>
              <a:rPr sz="1550" b="1">
                <a:solidFill>
                  <a:srgbClr val="202020"/>
                </a:solidFill>
                <a:latin typeface="Noto Sans CJK KR"/>
                <a:ea typeface="Noto Sans CJK KR"/>
              </a:rPr>
              <a:t>February</a:t>
            </a:r>
          </a:p>
          <a:p>
            <a:pPr algn="r">
              <a:lnSpc>
                <a:spcPct val="110000"/>
              </a:lnSpc>
              <a:spcBef>
                <a:spcPts val="0"/>
              </a:spcBef>
              <a:spcAft>
                <a:spcPts val="0"/>
              </a:spcAft>
            </a:pPr>
            <a:r>
              <a:rPr sz="1550" b="1">
                <a:solidFill>
                  <a:srgbClr val="202020"/>
                </a:solidFill>
                <a:latin typeface="Noto Sans CJK KR"/>
                <a:ea typeface="Noto Sans CJK KR"/>
              </a:rPr>
              <a:t>report</a:t>
            </a:r>
          </a:p>
        </p:txBody>
      </p:sp>
      <p:cxnSp>
        <p:nvCxnSpPr>
          <p:cNvPr id="10" name="Connector 9"/>
          <p:cNvCxnSpPr/>
          <p:nvPr/>
        </p:nvCxnSpPr>
        <p:spPr>
          <a:xfrm>
            <a:off x="722376" y="2340864"/>
            <a:ext cx="6483096" cy="0"/>
          </a:xfrm>
          <a:prstGeom prst="line">
            <a:avLst/>
          </a:prstGeom>
          <a:ln w="10795">
            <a:solidFill>
              <a:srgbClr val="202020"/>
            </a:solidFill>
          </a:ln>
          <a:effectLst/>
        </p:spPr>
      </p:cxnSp>
      <p:sp>
        <p:nvSpPr>
          <p:cNvPr id="11" name="TextBox 10"/>
          <p:cNvSpPr txBox="1"/>
          <p:nvPr/>
        </p:nvSpPr>
        <p:spPr>
          <a:xfrm>
            <a:off x="722376" y="2523744"/>
            <a:ext cx="3026664" cy="365760"/>
          </a:xfrm>
          <a:prstGeom prst="rect">
            <a:avLst/>
          </a:prstGeom>
          <a:noFill/>
        </p:spPr>
        <p:txBody>
          <a:bodyPr wrap="none" lIns="0" rIns="0" tIns="0" bIns="0" anchor="t">
            <a:noAutofit/>
          </a:bodyPr>
          <a:lstStyle/>
          <a:p>
            <a:pPr algn="l">
              <a:lnSpc>
                <a:spcPct val="110000"/>
              </a:lnSpc>
              <a:spcBef>
                <a:spcPts val="0"/>
              </a:spcBef>
              <a:spcAft>
                <a:spcPts val="0"/>
              </a:spcAft>
            </a:pPr>
            <a:r>
              <a:rPr sz="1550" b="0">
                <a:solidFill>
                  <a:srgbClr val="202020"/>
                </a:solidFill>
                <a:latin typeface="Noto Sans CJK KR"/>
                <a:ea typeface="Noto Sans CJK KR"/>
              </a:rPr>
              <a:t>Previous STAEformer</a:t>
            </a:r>
          </a:p>
        </p:txBody>
      </p:sp>
      <p:sp>
        <p:nvSpPr>
          <p:cNvPr id="12" name="TextBox 11"/>
          <p:cNvSpPr txBox="1"/>
          <p:nvPr/>
        </p:nvSpPr>
        <p:spPr>
          <a:xfrm>
            <a:off x="3785615" y="2523744"/>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0.931830</a:t>
            </a:r>
          </a:p>
        </p:txBody>
      </p:sp>
      <p:sp>
        <p:nvSpPr>
          <p:cNvPr id="13" name="TextBox 12"/>
          <p:cNvSpPr txBox="1"/>
          <p:nvPr/>
        </p:nvSpPr>
        <p:spPr>
          <a:xfrm>
            <a:off x="5614416" y="2523744"/>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0.933377</a:t>
            </a:r>
          </a:p>
        </p:txBody>
      </p:sp>
      <p:sp>
        <p:nvSpPr>
          <p:cNvPr id="14" name="TextBox 13"/>
          <p:cNvSpPr txBox="1"/>
          <p:nvPr/>
        </p:nvSpPr>
        <p:spPr>
          <a:xfrm>
            <a:off x="722376" y="3108960"/>
            <a:ext cx="3026664" cy="365760"/>
          </a:xfrm>
          <a:prstGeom prst="rect">
            <a:avLst/>
          </a:prstGeom>
          <a:noFill/>
        </p:spPr>
        <p:txBody>
          <a:bodyPr wrap="none" lIns="0" rIns="0" tIns="0" bIns="0" anchor="t">
            <a:noAutofit/>
          </a:bodyPr>
          <a:lstStyle/>
          <a:p>
            <a:pPr algn="l">
              <a:lnSpc>
                <a:spcPct val="110000"/>
              </a:lnSpc>
              <a:spcBef>
                <a:spcPts val="0"/>
              </a:spcBef>
              <a:spcAft>
                <a:spcPts val="0"/>
              </a:spcAft>
            </a:pPr>
            <a:r>
              <a:rPr sz="1550" b="0">
                <a:solidFill>
                  <a:srgbClr val="202020"/>
                </a:solidFill>
                <a:latin typeface="Noto Sans CJK KR"/>
                <a:ea typeface="Noto Sans CJK KR"/>
              </a:rPr>
              <a:t>Improved STAEformer</a:t>
            </a:r>
          </a:p>
        </p:txBody>
      </p:sp>
      <p:sp>
        <p:nvSpPr>
          <p:cNvPr id="15" name="TextBox 14"/>
          <p:cNvSpPr txBox="1"/>
          <p:nvPr/>
        </p:nvSpPr>
        <p:spPr>
          <a:xfrm>
            <a:off x="3785615" y="3108960"/>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0.943123</a:t>
            </a:r>
          </a:p>
        </p:txBody>
      </p:sp>
      <p:sp>
        <p:nvSpPr>
          <p:cNvPr id="16" name="TextBox 15"/>
          <p:cNvSpPr txBox="1"/>
          <p:nvPr/>
        </p:nvSpPr>
        <p:spPr>
          <a:xfrm>
            <a:off x="5614416" y="3108960"/>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0.944272</a:t>
            </a:r>
          </a:p>
        </p:txBody>
      </p:sp>
      <p:sp>
        <p:nvSpPr>
          <p:cNvPr id="17" name="TextBox 16"/>
          <p:cNvSpPr txBox="1"/>
          <p:nvPr/>
        </p:nvSpPr>
        <p:spPr>
          <a:xfrm>
            <a:off x="722376" y="3694176"/>
            <a:ext cx="3026664" cy="365760"/>
          </a:xfrm>
          <a:prstGeom prst="rect">
            <a:avLst/>
          </a:prstGeom>
          <a:noFill/>
        </p:spPr>
        <p:txBody>
          <a:bodyPr wrap="none" lIns="0" rIns="0" tIns="0" bIns="0" anchor="t">
            <a:noAutofit/>
          </a:bodyPr>
          <a:lstStyle/>
          <a:p>
            <a:pPr algn="l">
              <a:lnSpc>
                <a:spcPct val="110000"/>
              </a:lnSpc>
              <a:spcBef>
                <a:spcPts val="0"/>
              </a:spcBef>
              <a:spcAft>
                <a:spcPts val="0"/>
              </a:spcAft>
            </a:pPr>
            <a:r>
              <a:rPr sz="1550" b="0">
                <a:solidFill>
                  <a:srgbClr val="202020"/>
                </a:solidFill>
                <a:latin typeface="Noto Sans CJK KR"/>
                <a:ea typeface="Noto Sans CJK KR"/>
              </a:rPr>
              <a:t>ImputeFormer</a:t>
            </a:r>
          </a:p>
        </p:txBody>
      </p:sp>
      <p:sp>
        <p:nvSpPr>
          <p:cNvPr id="18" name="TextBox 17"/>
          <p:cNvSpPr txBox="1"/>
          <p:nvPr/>
        </p:nvSpPr>
        <p:spPr>
          <a:xfrm>
            <a:off x="3785615" y="3694176"/>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0.947440</a:t>
            </a:r>
          </a:p>
        </p:txBody>
      </p:sp>
      <p:sp>
        <p:nvSpPr>
          <p:cNvPr id="19" name="TextBox 18"/>
          <p:cNvSpPr txBox="1"/>
          <p:nvPr/>
        </p:nvSpPr>
        <p:spPr>
          <a:xfrm>
            <a:off x="5614416" y="3694176"/>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0.948697</a:t>
            </a:r>
          </a:p>
        </p:txBody>
      </p:sp>
      <p:sp>
        <p:nvSpPr>
          <p:cNvPr id="20" name="Rectangle 19"/>
          <p:cNvSpPr/>
          <p:nvPr/>
        </p:nvSpPr>
        <p:spPr>
          <a:xfrm>
            <a:off x="658368" y="4206240"/>
            <a:ext cx="6611112" cy="530352"/>
          </a:xfrm>
          <a:prstGeom prst="rect">
            <a:avLst/>
          </a:prstGeom>
          <a:solidFill>
            <a:srgbClr val="F1F1F1"/>
          </a:solidFill>
          <a:ln>
            <a:noFill/>
          </a:ln>
          <a:effectLst/>
        </p:spPr>
        <p:txBody>
          <a:bodyPr rtlCol="0" anchor="ctr"/>
          <a:lstStyle/>
          <a:p>
            <a:pPr algn="ctr"/>
          </a:p>
        </p:txBody>
      </p:sp>
      <p:sp>
        <p:nvSpPr>
          <p:cNvPr id="21" name="TextBox 20"/>
          <p:cNvSpPr txBox="1"/>
          <p:nvPr/>
        </p:nvSpPr>
        <p:spPr>
          <a:xfrm>
            <a:off x="722376" y="4279392"/>
            <a:ext cx="3026664" cy="365760"/>
          </a:xfrm>
          <a:prstGeom prst="rect">
            <a:avLst/>
          </a:prstGeom>
          <a:noFill/>
        </p:spPr>
        <p:txBody>
          <a:bodyPr wrap="none" lIns="0" rIns="0" tIns="0" bIns="0" anchor="t">
            <a:noAutofit/>
          </a:bodyPr>
          <a:lstStyle/>
          <a:p>
            <a:pPr algn="l">
              <a:lnSpc>
                <a:spcPct val="110000"/>
              </a:lnSpc>
              <a:spcBef>
                <a:spcPts val="0"/>
              </a:spcBef>
              <a:spcAft>
                <a:spcPts val="0"/>
              </a:spcAft>
            </a:pPr>
            <a:r>
              <a:rPr sz="1550" b="1">
                <a:solidFill>
                  <a:srgbClr val="202020"/>
                </a:solidFill>
                <a:latin typeface="Noto Sans CJK KR"/>
                <a:ea typeface="Noto Sans CJK KR"/>
              </a:rPr>
              <a:t>25 / 75 ensemble</a:t>
            </a:r>
          </a:p>
        </p:txBody>
      </p:sp>
      <p:sp>
        <p:nvSpPr>
          <p:cNvPr id="22" name="TextBox 21"/>
          <p:cNvSpPr txBox="1"/>
          <p:nvPr/>
        </p:nvSpPr>
        <p:spPr>
          <a:xfrm>
            <a:off x="3785615" y="4279392"/>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1">
                <a:solidFill>
                  <a:srgbClr val="202020"/>
                </a:solidFill>
                <a:latin typeface="Noto Sans CJK KR"/>
                <a:ea typeface="Noto Sans CJK KR"/>
              </a:rPr>
              <a:t>0.948117</a:t>
            </a:r>
          </a:p>
        </p:txBody>
      </p:sp>
      <p:sp>
        <p:nvSpPr>
          <p:cNvPr id="23" name="TextBox 22"/>
          <p:cNvSpPr txBox="1"/>
          <p:nvPr/>
        </p:nvSpPr>
        <p:spPr>
          <a:xfrm>
            <a:off x="5614416" y="4279392"/>
            <a:ext cx="1581912" cy="365760"/>
          </a:xfrm>
          <a:prstGeom prst="rect">
            <a:avLst/>
          </a:prstGeom>
          <a:noFill/>
        </p:spPr>
        <p:txBody>
          <a:bodyPr wrap="none" lIns="0" rIns="0" tIns="0" bIns="0" anchor="t">
            <a:noAutofit/>
          </a:bodyPr>
          <a:lstStyle/>
          <a:p>
            <a:pPr algn="r">
              <a:lnSpc>
                <a:spcPct val="110000"/>
              </a:lnSpc>
              <a:spcBef>
                <a:spcPts val="0"/>
              </a:spcBef>
              <a:spcAft>
                <a:spcPts val="0"/>
              </a:spcAft>
            </a:pPr>
            <a:r>
              <a:rPr sz="1600" b="1">
                <a:solidFill>
                  <a:srgbClr val="202020"/>
                </a:solidFill>
                <a:latin typeface="Noto Sans CJK KR"/>
                <a:ea typeface="Noto Sans CJK KR"/>
              </a:rPr>
              <a:t>0.949252</a:t>
            </a:r>
          </a:p>
        </p:txBody>
      </p:sp>
      <p:sp>
        <p:nvSpPr>
          <p:cNvPr id="24" name="TextBox 23"/>
          <p:cNvSpPr txBox="1"/>
          <p:nvPr/>
        </p:nvSpPr>
        <p:spPr>
          <a:xfrm>
            <a:off x="7671816" y="1709928"/>
            <a:ext cx="3730752" cy="365760"/>
          </a:xfrm>
          <a:prstGeom prst="rect">
            <a:avLst/>
          </a:prstGeom>
          <a:noFill/>
        </p:spPr>
        <p:txBody>
          <a:bodyPr wrap="none" lIns="0" rIns="0" tIns="0" bIns="0" anchor="t">
            <a:noAutofit/>
          </a:bodyPr>
          <a:lstStyle/>
          <a:p>
            <a:pPr algn="l">
              <a:lnSpc>
                <a:spcPct val="110000"/>
              </a:lnSpc>
              <a:spcBef>
                <a:spcPts val="0"/>
              </a:spcBef>
              <a:spcAft>
                <a:spcPts val="0"/>
              </a:spcAft>
            </a:pPr>
            <a:r>
              <a:rPr sz="1650" b="1">
                <a:solidFill>
                  <a:srgbClr val="202020"/>
                </a:solidFill>
                <a:latin typeface="Noto Sans CJK KR"/>
                <a:ea typeface="Noto Sans CJK KR"/>
              </a:rPr>
              <a:t>February by mask regime</a:t>
            </a:r>
          </a:p>
        </p:txBody>
      </p:sp>
      <p:pic>
        <p:nvPicPr>
          <p:cNvPr id="25" name="Picture 24" descr="february_regimes.png"/>
          <p:cNvPicPr>
            <a:picLocks noChangeAspect="1"/>
          </p:cNvPicPr>
          <p:nvPr/>
        </p:nvPicPr>
        <p:blipFill>
          <a:blip r:embed="rId3"/>
          <a:stretch>
            <a:fillRect/>
          </a:stretch>
        </p:blipFill>
        <p:spPr>
          <a:xfrm>
            <a:off x="7556666" y="2157984"/>
            <a:ext cx="3860467" cy="3063240"/>
          </a:xfrm>
          <a:prstGeom prst="rect">
            <a:avLst/>
          </a:prstGeom>
        </p:spPr>
      </p:pic>
      <p:sp>
        <p:nvSpPr>
          <p:cNvPr id="26" name="TextBox 25"/>
          <p:cNvSpPr txBox="1"/>
          <p:nvPr/>
        </p:nvSpPr>
        <p:spPr>
          <a:xfrm>
            <a:off x="7763256" y="5074920"/>
            <a:ext cx="3547872" cy="283464"/>
          </a:xfrm>
          <a:prstGeom prst="rect">
            <a:avLst/>
          </a:prstGeom>
          <a:noFill/>
        </p:spPr>
        <p:txBody>
          <a:bodyPr wrap="none" lIns="0" rIns="0" tIns="0" bIns="0" anchor="t">
            <a:noAutofit/>
          </a:bodyPr>
          <a:lstStyle/>
          <a:p>
            <a:pPr algn="ctr">
              <a:lnSpc>
                <a:spcPct val="110000"/>
              </a:lnSpc>
              <a:spcBef>
                <a:spcPts val="0"/>
              </a:spcBef>
              <a:spcAft>
                <a:spcPts val="0"/>
              </a:spcAft>
            </a:pPr>
            <a:r>
              <a:rPr sz="1150" b="0">
                <a:solidFill>
                  <a:srgbClr val="626262"/>
                </a:solidFill>
                <a:latin typeface="Noto Sans CJK KR"/>
                <a:ea typeface="Noto Sans CJK KR"/>
              </a:rPr>
              <a:t>Panel-average S_state</a:t>
            </a:r>
          </a:p>
        </p:txBody>
      </p:sp>
      <p:cxnSp>
        <p:nvCxnSpPr>
          <p:cNvPr id="27" name="Connector 26"/>
          <p:cNvCxnSpPr/>
          <p:nvPr/>
        </p:nvCxnSpPr>
        <p:spPr>
          <a:xfrm>
            <a:off x="722376" y="5385816"/>
            <a:ext cx="10643616" cy="0"/>
          </a:xfrm>
          <a:prstGeom prst="line">
            <a:avLst/>
          </a:prstGeom>
          <a:ln w="10160">
            <a:solidFill>
              <a:srgbClr val="D2D2D2"/>
            </a:solidFill>
          </a:ln>
          <a:effectLst/>
        </p:spPr>
      </p:cxnSp>
      <p:sp>
        <p:nvSpPr>
          <p:cNvPr id="28" name="TextBox 27"/>
          <p:cNvSpPr txBox="1"/>
          <p:nvPr/>
        </p:nvSpPr>
        <p:spPr>
          <a:xfrm>
            <a:off x="722376" y="5559552"/>
            <a:ext cx="7315200" cy="393192"/>
          </a:xfrm>
          <a:prstGeom prst="rect">
            <a:avLst/>
          </a:prstGeom>
          <a:noFill/>
        </p:spPr>
        <p:txBody>
          <a:bodyPr wrap="none" lIns="0" rIns="0" tIns="0" bIns="0" anchor="t">
            <a:noAutofit/>
          </a:bodyPr>
          <a:lstStyle/>
          <a:p>
            <a:pPr algn="l">
              <a:lnSpc>
                <a:spcPct val="110000"/>
              </a:lnSpc>
              <a:spcBef>
                <a:spcPts val="0"/>
              </a:spcBef>
              <a:spcAft>
                <a:spcPts val="0"/>
              </a:spcAft>
            </a:pPr>
            <a:r>
              <a:rPr sz="2100" b="1">
                <a:solidFill>
                  <a:srgbClr val="202020"/>
                </a:solidFill>
                <a:latin typeface="Noto Sans CJK KR"/>
                <a:ea typeface="Noto Sans CJK KR"/>
              </a:rPr>
              <a:t>25% STAEformer + 75% ImputeFormer</a:t>
            </a:r>
          </a:p>
        </p:txBody>
      </p:sp>
      <p:sp>
        <p:nvSpPr>
          <p:cNvPr id="29" name="TextBox 28"/>
          <p:cNvSpPr txBox="1"/>
          <p:nvPr/>
        </p:nvSpPr>
        <p:spPr>
          <a:xfrm>
            <a:off x="722376" y="6007608"/>
            <a:ext cx="10287000" cy="310896"/>
          </a:xfrm>
          <a:prstGeom prst="rect">
            <a:avLst/>
          </a:prstGeom>
          <a:noFill/>
        </p:spPr>
        <p:txBody>
          <a:bodyPr wrap="none" lIns="0" rIns="0" tIns="0" bIns="0" anchor="t">
            <a:noAutofit/>
          </a:bodyPr>
          <a:lstStyle/>
          <a:p>
            <a:pPr algn="l">
              <a:lnSpc>
                <a:spcPct val="110000"/>
              </a:lnSpc>
              <a:spcBef>
                <a:spcPts val="0"/>
              </a:spcBef>
              <a:spcAft>
                <a:spcPts val="0"/>
              </a:spcAft>
            </a:pPr>
            <a:r>
              <a:rPr sz="1350" b="0">
                <a:solidFill>
                  <a:srgbClr val="202020"/>
                </a:solidFill>
                <a:latin typeface="Noto Sans CJK KR"/>
                <a:ea typeface="Noto Sans CJK KR"/>
              </a:rPr>
              <a:t>Blend selected on January · all 3,443,944 February targets evaluated</a:t>
            </a:r>
          </a:p>
        </p:txBody>
      </p:sp>
      <p:sp>
        <p:nvSpPr>
          <p:cNvPr id="30" name="TextBox 29"/>
          <p:cNvSpPr txBox="1"/>
          <p:nvPr/>
        </p:nvSpPr>
        <p:spPr>
          <a:xfrm>
            <a:off x="722376" y="6364224"/>
            <a:ext cx="10186416" cy="210312"/>
          </a:xfrm>
          <a:prstGeom prst="rect">
            <a:avLst/>
          </a:prstGeom>
          <a:noFill/>
        </p:spPr>
        <p:txBody>
          <a:bodyPr wrap="none" lIns="0" rIns="0" tIns="0" bIns="0" anchor="t">
            <a:noAutofit/>
          </a:bodyPr>
          <a:lstStyle/>
          <a:p>
            <a:pPr algn="l">
              <a:lnSpc>
                <a:spcPct val="110000"/>
              </a:lnSpc>
              <a:spcBef>
                <a:spcPts val="0"/>
              </a:spcBef>
              <a:spcAft>
                <a:spcPts val="0"/>
              </a:spcAft>
            </a:pPr>
            <a:r>
              <a:rPr sz="900" b="0">
                <a:solidFill>
                  <a:srgbClr val="626262"/>
                </a:solidFill>
                <a:latin typeface="Noto Sans CJK KR"/>
                <a:ea typeface="Noto Sans CJK KR"/>
              </a:rPr>
              <a:t>February was also evaluated in earlier experiments; this experiment used January for selection.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329184"/>
            <a:ext cx="77724" cy="530352"/>
          </a:xfrm>
          <a:prstGeom prst="rect">
            <a:avLst/>
          </a:prstGeom>
          <a:solidFill>
            <a:srgbClr val="202020"/>
          </a:solidFill>
          <a:ln>
            <a:noFill/>
          </a:ln>
          <a:effectLst/>
        </p:spPr>
        <p:txBody>
          <a:bodyPr rtlCol="0" anchor="ctr"/>
          <a:lstStyle/>
          <a:p>
            <a:pPr algn="ctr"/>
          </a:p>
        </p:txBody>
      </p:sp>
      <p:sp>
        <p:nvSpPr>
          <p:cNvPr id="3" name="TextBox 2"/>
          <p:cNvSpPr txBox="1"/>
          <p:nvPr/>
        </p:nvSpPr>
        <p:spPr>
          <a:xfrm>
            <a:off x="886968" y="292608"/>
            <a:ext cx="10698480" cy="640080"/>
          </a:xfrm>
          <a:prstGeom prst="rect">
            <a:avLst/>
          </a:prstGeom>
          <a:noFill/>
        </p:spPr>
        <p:txBody>
          <a:bodyPr wrap="none" lIns="0" rIns="0" tIns="0" bIns="0" anchor="t">
            <a:noAutofit/>
          </a:bodyPr>
          <a:lstStyle/>
          <a:p>
            <a:pPr algn="l">
              <a:lnSpc>
                <a:spcPct val="110000"/>
              </a:lnSpc>
              <a:spcBef>
                <a:spcPts val="0"/>
              </a:spcBef>
              <a:spcAft>
                <a:spcPts val="0"/>
              </a:spcAft>
            </a:pPr>
            <a:r>
              <a:rPr sz="3000" b="1">
                <a:solidFill>
                  <a:srgbClr val="000000"/>
                </a:solidFill>
                <a:latin typeface="Noto Sans CJK KR"/>
                <a:ea typeface="Noto Sans CJK KR"/>
              </a:rPr>
              <a:t>Kaggle Public results</a:t>
            </a:r>
          </a:p>
        </p:txBody>
      </p:sp>
      <p:sp>
        <p:nvSpPr>
          <p:cNvPr id="4" name="TextBox 3"/>
          <p:cNvSpPr txBox="1"/>
          <p:nvPr/>
        </p:nvSpPr>
        <p:spPr>
          <a:xfrm>
            <a:off x="694944" y="1051560"/>
            <a:ext cx="10835640" cy="420624"/>
          </a:xfrm>
          <a:prstGeom prst="rect">
            <a:avLst/>
          </a:prstGeom>
          <a:noFill/>
        </p:spPr>
        <p:txBody>
          <a:bodyPr wrap="none" lIns="0" rIns="0" tIns="0" bIns="0" anchor="t">
            <a:noAutofit/>
          </a:bodyPr>
          <a:lstStyle/>
          <a:p>
            <a:pPr algn="l">
              <a:lnSpc>
                <a:spcPct val="110000"/>
              </a:lnSpc>
              <a:spcBef>
                <a:spcPts val="0"/>
              </a:spcBef>
              <a:spcAft>
                <a:spcPts val="0"/>
              </a:spcAft>
            </a:pPr>
            <a:r>
              <a:rPr sz="1650" b="0">
                <a:solidFill>
                  <a:srgbClr val="626262"/>
                </a:solidFill>
                <a:latin typeface="Noto Sans CJK KR"/>
                <a:ea typeface="Noto Sans CJK KR"/>
              </a:rPr>
              <a:t>Three new submissions completed · Task 2 (queue) and Task 4 (path flow) held fixed</a:t>
            </a:r>
          </a:p>
        </p:txBody>
      </p:sp>
      <p:sp>
        <p:nvSpPr>
          <p:cNvPr id="5" name="TextBox 4"/>
          <p:cNvSpPr txBox="1"/>
          <p:nvPr/>
        </p:nvSpPr>
        <p:spPr>
          <a:xfrm>
            <a:off x="694944" y="6519672"/>
            <a:ext cx="6217920" cy="201168"/>
          </a:xfrm>
          <a:prstGeom prst="rect">
            <a:avLst/>
          </a:prstGeom>
          <a:noFill/>
        </p:spPr>
        <p:txBody>
          <a:bodyPr wrap="none" lIns="0" rIns="0" tIns="0" bIns="0" anchor="t">
            <a:noAutofit/>
          </a:bodyPr>
          <a:lstStyle/>
          <a:p>
            <a:pPr algn="l">
              <a:lnSpc>
                <a:spcPct val="110000"/>
              </a:lnSpc>
              <a:spcBef>
                <a:spcPts val="0"/>
              </a:spcBef>
              <a:spcAft>
                <a:spcPts val="0"/>
              </a:spcAft>
            </a:pPr>
            <a:r>
              <a:rPr sz="900" b="0">
                <a:solidFill>
                  <a:srgbClr val="626262"/>
                </a:solidFill>
                <a:latin typeface="Noto Sans CJK KR"/>
                <a:ea typeface="Noto Sans CJK KR"/>
              </a:rPr>
              <a:t>05  |  Official submission results</a:t>
            </a:r>
          </a:p>
        </p:txBody>
      </p:sp>
      <p:pic>
        <p:nvPicPr>
          <p:cNvPr id="6" name="Picture 5" descr="logo-000.png"/>
          <p:cNvPicPr>
            <a:picLocks noChangeAspect="1"/>
          </p:cNvPicPr>
          <p:nvPr/>
        </p:nvPicPr>
        <p:blipFill>
          <a:blip r:embed="rId2"/>
          <a:srcRect l="6000" r="4000" t="29000" b="30000"/>
          <a:stretch>
            <a:fillRect/>
          </a:stretch>
        </p:blipFill>
        <p:spPr>
          <a:xfrm>
            <a:off x="11000232" y="6318504"/>
            <a:ext cx="896112" cy="408228"/>
          </a:xfrm>
          <a:prstGeom prst="rect">
            <a:avLst/>
          </a:prstGeom>
        </p:spPr>
      </p:pic>
      <p:sp>
        <p:nvSpPr>
          <p:cNvPr id="7" name="TextBox 6"/>
          <p:cNvSpPr txBox="1"/>
          <p:nvPr/>
        </p:nvSpPr>
        <p:spPr>
          <a:xfrm>
            <a:off x="722376" y="1719072"/>
            <a:ext cx="6291072" cy="374904"/>
          </a:xfrm>
          <a:prstGeom prst="rect">
            <a:avLst/>
          </a:prstGeom>
          <a:noFill/>
        </p:spPr>
        <p:txBody>
          <a:bodyPr wrap="none" lIns="0" rIns="0" tIns="0" bIns="0" anchor="t">
            <a:noAutofit/>
          </a:bodyPr>
          <a:lstStyle/>
          <a:p>
            <a:pPr algn="l">
              <a:lnSpc>
                <a:spcPct val="110000"/>
              </a:lnSpc>
              <a:spcBef>
                <a:spcPts val="0"/>
              </a:spcBef>
              <a:spcAft>
                <a:spcPts val="0"/>
              </a:spcAft>
            </a:pPr>
            <a:r>
              <a:rPr sz="1900" b="1">
                <a:solidFill>
                  <a:srgbClr val="202020"/>
                </a:solidFill>
                <a:latin typeface="Noto Sans CJK KR"/>
                <a:ea typeface="Noto Sans CJK KR"/>
              </a:rPr>
              <a:t>Improvement over submission 003</a:t>
            </a:r>
          </a:p>
        </p:txBody>
      </p:sp>
      <p:pic>
        <p:nvPicPr>
          <p:cNvPr id="8" name="Picture 7" descr="public_score_gain.png"/>
          <p:cNvPicPr>
            <a:picLocks noChangeAspect="1"/>
          </p:cNvPicPr>
          <p:nvPr/>
        </p:nvPicPr>
        <p:blipFill>
          <a:blip r:embed="rId3"/>
          <a:stretch>
            <a:fillRect/>
          </a:stretch>
        </p:blipFill>
        <p:spPr>
          <a:xfrm>
            <a:off x="529531" y="2231136"/>
            <a:ext cx="6466449" cy="3602736"/>
          </a:xfrm>
          <a:prstGeom prst="rect">
            <a:avLst/>
          </a:prstGeom>
        </p:spPr>
      </p:pic>
      <p:cxnSp>
        <p:nvCxnSpPr>
          <p:cNvPr id="9" name="Connector 8"/>
          <p:cNvCxnSpPr/>
          <p:nvPr/>
        </p:nvCxnSpPr>
        <p:spPr>
          <a:xfrm>
            <a:off x="7296912" y="1737360"/>
            <a:ext cx="0" cy="3721608"/>
          </a:xfrm>
          <a:prstGeom prst="line">
            <a:avLst/>
          </a:prstGeom>
          <a:ln w="10160">
            <a:solidFill>
              <a:srgbClr val="D2D2D2"/>
            </a:solidFill>
          </a:ln>
          <a:effectLst/>
        </p:spPr>
      </p:cxnSp>
      <p:sp>
        <p:nvSpPr>
          <p:cNvPr id="10" name="TextBox 9"/>
          <p:cNvSpPr txBox="1"/>
          <p:nvPr/>
        </p:nvSpPr>
        <p:spPr>
          <a:xfrm>
            <a:off x="7680960" y="1755648"/>
            <a:ext cx="2011680" cy="365760"/>
          </a:xfrm>
          <a:prstGeom prst="rect">
            <a:avLst/>
          </a:prstGeom>
          <a:noFill/>
        </p:spPr>
        <p:txBody>
          <a:bodyPr wrap="none" lIns="0" rIns="0" tIns="0" bIns="0" anchor="t">
            <a:noAutofit/>
          </a:bodyPr>
          <a:lstStyle/>
          <a:p>
            <a:pPr algn="l">
              <a:lnSpc>
                <a:spcPct val="110000"/>
              </a:lnSpc>
              <a:spcBef>
                <a:spcPts val="0"/>
              </a:spcBef>
              <a:spcAft>
                <a:spcPts val="0"/>
              </a:spcAft>
            </a:pPr>
            <a:r>
              <a:rPr sz="1600" b="1">
                <a:solidFill>
                  <a:srgbClr val="202020"/>
                </a:solidFill>
                <a:latin typeface="Noto Sans CJK KR"/>
                <a:ea typeface="Noto Sans CJK KR"/>
              </a:rPr>
              <a:t>Submission</a:t>
            </a:r>
          </a:p>
        </p:txBody>
      </p:sp>
      <p:sp>
        <p:nvSpPr>
          <p:cNvPr id="11" name="TextBox 10"/>
          <p:cNvSpPr txBox="1"/>
          <p:nvPr/>
        </p:nvSpPr>
        <p:spPr>
          <a:xfrm>
            <a:off x="9902952" y="1755648"/>
            <a:ext cx="1472184" cy="365760"/>
          </a:xfrm>
          <a:prstGeom prst="rect">
            <a:avLst/>
          </a:prstGeom>
          <a:noFill/>
        </p:spPr>
        <p:txBody>
          <a:bodyPr wrap="none" lIns="0" rIns="0" tIns="0" bIns="0" anchor="t">
            <a:noAutofit/>
          </a:bodyPr>
          <a:lstStyle/>
          <a:p>
            <a:pPr algn="r">
              <a:lnSpc>
                <a:spcPct val="110000"/>
              </a:lnSpc>
              <a:spcBef>
                <a:spcPts val="0"/>
              </a:spcBef>
              <a:spcAft>
                <a:spcPts val="0"/>
              </a:spcAft>
            </a:pPr>
            <a:r>
              <a:rPr sz="1550" b="1">
                <a:solidFill>
                  <a:srgbClr val="202020"/>
                </a:solidFill>
                <a:latin typeface="Noto Sans CJK KR"/>
                <a:ea typeface="Noto Sans CJK KR"/>
              </a:rPr>
              <a:t>Public score</a:t>
            </a:r>
          </a:p>
        </p:txBody>
      </p:sp>
      <p:cxnSp>
        <p:nvCxnSpPr>
          <p:cNvPr id="12" name="Connector 11"/>
          <p:cNvCxnSpPr/>
          <p:nvPr/>
        </p:nvCxnSpPr>
        <p:spPr>
          <a:xfrm>
            <a:off x="7680960" y="2267712"/>
            <a:ext cx="3694176" cy="0"/>
          </a:xfrm>
          <a:prstGeom prst="line">
            <a:avLst/>
          </a:prstGeom>
          <a:ln w="10160">
            <a:solidFill>
              <a:srgbClr val="202020"/>
            </a:solidFill>
          </a:ln>
          <a:effectLst/>
        </p:spPr>
      </p:cxnSp>
      <p:sp>
        <p:nvSpPr>
          <p:cNvPr id="13" name="TextBox 12"/>
          <p:cNvSpPr txBox="1"/>
          <p:nvPr/>
        </p:nvSpPr>
        <p:spPr>
          <a:xfrm>
            <a:off x="7680960" y="2523744"/>
            <a:ext cx="2267712" cy="329184"/>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003  Previous</a:t>
            </a:r>
          </a:p>
        </p:txBody>
      </p:sp>
      <p:sp>
        <p:nvSpPr>
          <p:cNvPr id="14" name="TextBox 13"/>
          <p:cNvSpPr txBox="1"/>
          <p:nvPr/>
        </p:nvSpPr>
        <p:spPr>
          <a:xfrm>
            <a:off x="10049256" y="2523744"/>
            <a:ext cx="1325880" cy="329184"/>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0.76826</a:t>
            </a:r>
          </a:p>
        </p:txBody>
      </p:sp>
      <p:sp>
        <p:nvSpPr>
          <p:cNvPr id="15" name="TextBox 14"/>
          <p:cNvSpPr txBox="1"/>
          <p:nvPr/>
        </p:nvSpPr>
        <p:spPr>
          <a:xfrm>
            <a:off x="7680960" y="3044951"/>
            <a:ext cx="2267712" cy="329184"/>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004  STAEformer</a:t>
            </a:r>
          </a:p>
        </p:txBody>
      </p:sp>
      <p:sp>
        <p:nvSpPr>
          <p:cNvPr id="16" name="TextBox 15"/>
          <p:cNvSpPr txBox="1"/>
          <p:nvPr/>
        </p:nvSpPr>
        <p:spPr>
          <a:xfrm>
            <a:off x="10049256" y="3044951"/>
            <a:ext cx="1325880" cy="329184"/>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0.77803</a:t>
            </a:r>
          </a:p>
        </p:txBody>
      </p:sp>
      <p:sp>
        <p:nvSpPr>
          <p:cNvPr id="17" name="TextBox 16"/>
          <p:cNvSpPr txBox="1"/>
          <p:nvPr/>
        </p:nvSpPr>
        <p:spPr>
          <a:xfrm>
            <a:off x="7680960" y="3566159"/>
            <a:ext cx="2267712" cy="329184"/>
          </a:xfrm>
          <a:prstGeom prst="rect">
            <a:avLst/>
          </a:prstGeom>
          <a:noFill/>
        </p:spPr>
        <p:txBody>
          <a:bodyPr wrap="none" lIns="0" rIns="0" tIns="0" bIns="0" anchor="t">
            <a:noAutofit/>
          </a:bodyPr>
          <a:lstStyle/>
          <a:p>
            <a:pPr algn="l">
              <a:lnSpc>
                <a:spcPct val="110000"/>
              </a:lnSpc>
              <a:spcBef>
                <a:spcPts val="0"/>
              </a:spcBef>
              <a:spcAft>
                <a:spcPts val="0"/>
              </a:spcAft>
            </a:pPr>
            <a:r>
              <a:rPr sz="1420" b="0">
                <a:solidFill>
                  <a:srgbClr val="202020"/>
                </a:solidFill>
                <a:latin typeface="Noto Sans CJK KR"/>
                <a:ea typeface="Noto Sans CJK KR"/>
              </a:rPr>
              <a:t>005  ImputeFormer</a:t>
            </a:r>
          </a:p>
        </p:txBody>
      </p:sp>
      <p:sp>
        <p:nvSpPr>
          <p:cNvPr id="18" name="TextBox 17"/>
          <p:cNvSpPr txBox="1"/>
          <p:nvPr/>
        </p:nvSpPr>
        <p:spPr>
          <a:xfrm>
            <a:off x="10049256" y="3566159"/>
            <a:ext cx="1325880" cy="329184"/>
          </a:xfrm>
          <a:prstGeom prst="rect">
            <a:avLst/>
          </a:prstGeom>
          <a:noFill/>
        </p:spPr>
        <p:txBody>
          <a:bodyPr wrap="none" lIns="0" rIns="0" tIns="0" bIns="0" anchor="t">
            <a:noAutofit/>
          </a:bodyPr>
          <a:lstStyle/>
          <a:p>
            <a:pPr algn="r">
              <a:lnSpc>
                <a:spcPct val="110000"/>
              </a:lnSpc>
              <a:spcBef>
                <a:spcPts val="0"/>
              </a:spcBef>
              <a:spcAft>
                <a:spcPts val="0"/>
              </a:spcAft>
            </a:pPr>
            <a:r>
              <a:rPr sz="1600" b="0">
                <a:solidFill>
                  <a:srgbClr val="202020"/>
                </a:solidFill>
                <a:latin typeface="Noto Sans CJK KR"/>
                <a:ea typeface="Noto Sans CJK KR"/>
              </a:rPr>
              <a:t>0.78138</a:t>
            </a:r>
          </a:p>
        </p:txBody>
      </p:sp>
      <p:sp>
        <p:nvSpPr>
          <p:cNvPr id="19" name="Rectangle 18"/>
          <p:cNvSpPr/>
          <p:nvPr/>
        </p:nvSpPr>
        <p:spPr>
          <a:xfrm>
            <a:off x="7598664" y="4023359"/>
            <a:ext cx="3867912" cy="466344"/>
          </a:xfrm>
          <a:prstGeom prst="rect">
            <a:avLst/>
          </a:prstGeom>
          <a:solidFill>
            <a:srgbClr val="F1F1F1"/>
          </a:solidFill>
          <a:ln>
            <a:noFill/>
          </a:ln>
          <a:effectLst/>
        </p:spPr>
        <p:txBody>
          <a:bodyPr rtlCol="0" anchor="ctr"/>
          <a:lstStyle/>
          <a:p>
            <a:pPr algn="ctr"/>
          </a:p>
        </p:txBody>
      </p:sp>
      <p:sp>
        <p:nvSpPr>
          <p:cNvPr id="20" name="TextBox 19"/>
          <p:cNvSpPr txBox="1"/>
          <p:nvPr/>
        </p:nvSpPr>
        <p:spPr>
          <a:xfrm>
            <a:off x="7680960" y="4087368"/>
            <a:ext cx="2267712" cy="329184"/>
          </a:xfrm>
          <a:prstGeom prst="rect">
            <a:avLst/>
          </a:prstGeom>
          <a:noFill/>
        </p:spPr>
        <p:txBody>
          <a:bodyPr wrap="none" lIns="0" rIns="0" tIns="0" bIns="0" anchor="t">
            <a:noAutofit/>
          </a:bodyPr>
          <a:lstStyle/>
          <a:p>
            <a:pPr algn="l">
              <a:lnSpc>
                <a:spcPct val="110000"/>
              </a:lnSpc>
              <a:spcBef>
                <a:spcPts val="0"/>
              </a:spcBef>
              <a:spcAft>
                <a:spcPts val="0"/>
              </a:spcAft>
            </a:pPr>
            <a:r>
              <a:rPr sz="1420" b="1">
                <a:solidFill>
                  <a:srgbClr val="202020"/>
                </a:solidFill>
                <a:latin typeface="Noto Sans CJK KR"/>
                <a:ea typeface="Noto Sans CJK KR"/>
              </a:rPr>
              <a:t>006  Ensemble</a:t>
            </a:r>
          </a:p>
        </p:txBody>
      </p:sp>
      <p:sp>
        <p:nvSpPr>
          <p:cNvPr id="21" name="TextBox 20"/>
          <p:cNvSpPr txBox="1"/>
          <p:nvPr/>
        </p:nvSpPr>
        <p:spPr>
          <a:xfrm>
            <a:off x="10049256" y="4087368"/>
            <a:ext cx="1325880" cy="329184"/>
          </a:xfrm>
          <a:prstGeom prst="rect">
            <a:avLst/>
          </a:prstGeom>
          <a:noFill/>
        </p:spPr>
        <p:txBody>
          <a:bodyPr wrap="none" lIns="0" rIns="0" tIns="0" bIns="0" anchor="t">
            <a:noAutofit/>
          </a:bodyPr>
          <a:lstStyle/>
          <a:p>
            <a:pPr algn="r">
              <a:lnSpc>
                <a:spcPct val="110000"/>
              </a:lnSpc>
              <a:spcBef>
                <a:spcPts val="0"/>
              </a:spcBef>
              <a:spcAft>
                <a:spcPts val="0"/>
              </a:spcAft>
            </a:pPr>
            <a:r>
              <a:rPr sz="1600" b="1">
                <a:solidFill>
                  <a:srgbClr val="202020"/>
                </a:solidFill>
                <a:latin typeface="Noto Sans CJK KR"/>
                <a:ea typeface="Noto Sans CJK KR"/>
              </a:rPr>
              <a:t>0.78255</a:t>
            </a:r>
          </a:p>
        </p:txBody>
      </p:sp>
      <p:sp>
        <p:nvSpPr>
          <p:cNvPr id="22" name="TextBox 21"/>
          <p:cNvSpPr txBox="1"/>
          <p:nvPr/>
        </p:nvSpPr>
        <p:spPr>
          <a:xfrm>
            <a:off x="7671816" y="4764024"/>
            <a:ext cx="3429000" cy="557784"/>
          </a:xfrm>
          <a:prstGeom prst="rect">
            <a:avLst/>
          </a:prstGeom>
          <a:noFill/>
        </p:spPr>
        <p:txBody>
          <a:bodyPr wrap="none" lIns="0" rIns="0" tIns="0" bIns="0" anchor="t">
            <a:noAutofit/>
          </a:bodyPr>
          <a:lstStyle/>
          <a:p>
            <a:pPr algn="l">
              <a:lnSpc>
                <a:spcPct val="110000"/>
              </a:lnSpc>
              <a:spcBef>
                <a:spcPts val="0"/>
              </a:spcBef>
              <a:spcAft>
                <a:spcPts val="0"/>
              </a:spcAft>
            </a:pPr>
            <a:r>
              <a:rPr sz="3200" b="1">
                <a:solidFill>
                  <a:srgbClr val="202020"/>
                </a:solidFill>
                <a:latin typeface="Noto Sans CJK KR"/>
                <a:ea typeface="Noto Sans CJK KR"/>
              </a:rPr>
              <a:t>+0.01429</a:t>
            </a:r>
          </a:p>
        </p:txBody>
      </p:sp>
      <p:sp>
        <p:nvSpPr>
          <p:cNvPr id="23" name="TextBox 22"/>
          <p:cNvSpPr txBox="1"/>
          <p:nvPr/>
        </p:nvSpPr>
        <p:spPr>
          <a:xfrm>
            <a:off x="7680960" y="5404104"/>
            <a:ext cx="3803904" cy="256032"/>
          </a:xfrm>
          <a:prstGeom prst="rect">
            <a:avLst/>
          </a:prstGeom>
          <a:noFill/>
        </p:spPr>
        <p:txBody>
          <a:bodyPr wrap="none" lIns="0" rIns="0" tIns="0" bIns="0" anchor="t">
            <a:noAutofit/>
          </a:bodyPr>
          <a:lstStyle/>
          <a:p>
            <a:pPr algn="l">
              <a:lnSpc>
                <a:spcPct val="110000"/>
              </a:lnSpc>
              <a:spcBef>
                <a:spcPts val="0"/>
              </a:spcBef>
              <a:spcAft>
                <a:spcPts val="0"/>
              </a:spcAft>
            </a:pPr>
            <a:r>
              <a:rPr sz="1170" b="0">
                <a:solidFill>
                  <a:srgbClr val="626262"/>
                </a:solidFill>
                <a:latin typeface="Noto Sans CJK KR"/>
                <a:ea typeface="Noto Sans CJK KR"/>
              </a:rPr>
              <a:t>Best gain over the previous submission</a:t>
            </a:r>
          </a:p>
        </p:txBody>
      </p:sp>
      <p:cxnSp>
        <p:nvCxnSpPr>
          <p:cNvPr id="24" name="Connector 23"/>
          <p:cNvCxnSpPr/>
          <p:nvPr/>
        </p:nvCxnSpPr>
        <p:spPr>
          <a:xfrm>
            <a:off x="722376" y="5843016"/>
            <a:ext cx="10652760" cy="0"/>
          </a:xfrm>
          <a:prstGeom prst="line">
            <a:avLst/>
          </a:prstGeom>
          <a:ln w="10160">
            <a:solidFill>
              <a:srgbClr val="D2D2D2"/>
            </a:solidFill>
          </a:ln>
          <a:effectLst/>
        </p:spPr>
      </p:cxnSp>
      <p:sp>
        <p:nvSpPr>
          <p:cNvPr id="25" name="TextBox 24"/>
          <p:cNvSpPr txBox="1"/>
          <p:nvPr/>
        </p:nvSpPr>
        <p:spPr>
          <a:xfrm>
            <a:off x="722376" y="5998464"/>
            <a:ext cx="10561320" cy="356616"/>
          </a:xfrm>
          <a:prstGeom prst="rect">
            <a:avLst/>
          </a:prstGeom>
          <a:noFill/>
        </p:spPr>
        <p:txBody>
          <a:bodyPr wrap="none" lIns="0" rIns="0" tIns="0" bIns="0" anchor="t">
            <a:noAutofit/>
          </a:bodyPr>
          <a:lstStyle/>
          <a:p>
            <a:pPr algn="l">
              <a:lnSpc>
                <a:spcPct val="110000"/>
              </a:lnSpc>
              <a:spcBef>
                <a:spcPts val="0"/>
              </a:spcBef>
              <a:spcAft>
                <a:spcPts val="0"/>
              </a:spcAft>
            </a:pPr>
            <a:r>
              <a:rPr sz="1650" b="1">
                <a:solidFill>
                  <a:srgbClr val="202020"/>
                </a:solidFill>
                <a:latin typeface="Noto Sans CJK KR"/>
                <a:ea typeface="Noto Sans CJK KR"/>
              </a:rPr>
              <a:t>The Public gain reflects Task 1 reconstruction + Task 3 physical consistency.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85800" y="329184"/>
            <a:ext cx="77724" cy="530352"/>
          </a:xfrm>
          <a:prstGeom prst="rect">
            <a:avLst/>
          </a:prstGeom>
          <a:solidFill>
            <a:srgbClr val="202020"/>
          </a:solidFill>
          <a:ln>
            <a:noFill/>
          </a:ln>
          <a:effectLst/>
        </p:spPr>
        <p:txBody>
          <a:bodyPr rtlCol="0" anchor="ctr"/>
          <a:lstStyle/>
          <a:p>
            <a:pPr algn="ctr"/>
          </a:p>
        </p:txBody>
      </p:sp>
      <p:sp>
        <p:nvSpPr>
          <p:cNvPr id="3" name="TextBox 2"/>
          <p:cNvSpPr txBox="1"/>
          <p:nvPr/>
        </p:nvSpPr>
        <p:spPr>
          <a:xfrm>
            <a:off x="886968" y="292608"/>
            <a:ext cx="10698480" cy="640080"/>
          </a:xfrm>
          <a:prstGeom prst="rect">
            <a:avLst/>
          </a:prstGeom>
          <a:noFill/>
        </p:spPr>
        <p:txBody>
          <a:bodyPr wrap="none" lIns="0" rIns="0" tIns="0" bIns="0" anchor="t">
            <a:noAutofit/>
          </a:bodyPr>
          <a:lstStyle/>
          <a:p>
            <a:pPr algn="l">
              <a:lnSpc>
                <a:spcPct val="110000"/>
              </a:lnSpc>
              <a:spcBef>
                <a:spcPts val="0"/>
              </a:spcBef>
              <a:spcAft>
                <a:spcPts val="0"/>
              </a:spcAft>
            </a:pPr>
            <a:r>
              <a:rPr sz="3000" b="1">
                <a:solidFill>
                  <a:srgbClr val="000000"/>
                </a:solidFill>
                <a:latin typeface="Noto Sans CJK KR"/>
                <a:ea typeface="Noto Sans CJK KR"/>
              </a:rPr>
              <a:t>Conclusion and next experiment</a:t>
            </a:r>
          </a:p>
        </p:txBody>
      </p:sp>
      <p:sp>
        <p:nvSpPr>
          <p:cNvPr id="4" name="TextBox 3"/>
          <p:cNvSpPr txBox="1"/>
          <p:nvPr/>
        </p:nvSpPr>
        <p:spPr>
          <a:xfrm>
            <a:off x="694944" y="6519672"/>
            <a:ext cx="6217920" cy="201168"/>
          </a:xfrm>
          <a:prstGeom prst="rect">
            <a:avLst/>
          </a:prstGeom>
          <a:noFill/>
        </p:spPr>
        <p:txBody>
          <a:bodyPr wrap="none" lIns="0" rIns="0" tIns="0" bIns="0" anchor="t">
            <a:noAutofit/>
          </a:bodyPr>
          <a:lstStyle/>
          <a:p>
            <a:pPr algn="l">
              <a:lnSpc>
                <a:spcPct val="110000"/>
              </a:lnSpc>
              <a:spcBef>
                <a:spcPts val="0"/>
              </a:spcBef>
              <a:spcAft>
                <a:spcPts val="0"/>
              </a:spcAft>
            </a:pPr>
            <a:r>
              <a:rPr sz="900" b="0">
                <a:solidFill>
                  <a:srgbClr val="626262"/>
                </a:solidFill>
                <a:latin typeface="Noto Sans CJK KR"/>
                <a:ea typeface="Noto Sans CJK KR"/>
              </a:rPr>
              <a:t>06  |  Conclusion</a:t>
            </a:r>
          </a:p>
        </p:txBody>
      </p:sp>
      <p:pic>
        <p:nvPicPr>
          <p:cNvPr id="5" name="Picture 4" descr="logo-000.png"/>
          <p:cNvPicPr>
            <a:picLocks noChangeAspect="1"/>
          </p:cNvPicPr>
          <p:nvPr/>
        </p:nvPicPr>
        <p:blipFill>
          <a:blip r:embed="rId2"/>
          <a:srcRect l="6000" r="4000" t="29000" b="30000"/>
          <a:stretch>
            <a:fillRect/>
          </a:stretch>
        </p:blipFill>
        <p:spPr>
          <a:xfrm>
            <a:off x="11000232" y="6318504"/>
            <a:ext cx="896112" cy="408228"/>
          </a:xfrm>
          <a:prstGeom prst="rect">
            <a:avLst/>
          </a:prstGeom>
        </p:spPr>
      </p:pic>
      <p:sp>
        <p:nvSpPr>
          <p:cNvPr id="6" name="Rectangle 5"/>
          <p:cNvSpPr/>
          <p:nvPr/>
        </p:nvSpPr>
        <p:spPr>
          <a:xfrm>
            <a:off x="758952" y="1600200"/>
            <a:ext cx="118872" cy="1965960"/>
          </a:xfrm>
          <a:prstGeom prst="rect">
            <a:avLst/>
          </a:prstGeom>
          <a:solidFill>
            <a:srgbClr val="202020"/>
          </a:solidFill>
          <a:ln>
            <a:noFill/>
          </a:ln>
          <a:effectLst/>
        </p:spPr>
        <p:txBody>
          <a:bodyPr rtlCol="0" anchor="ctr"/>
          <a:lstStyle/>
          <a:p>
            <a:pPr algn="ctr"/>
          </a:p>
        </p:txBody>
      </p:sp>
      <p:sp>
        <p:nvSpPr>
          <p:cNvPr id="7" name="TextBox 6"/>
          <p:cNvSpPr txBox="1"/>
          <p:nvPr/>
        </p:nvSpPr>
        <p:spPr>
          <a:xfrm>
            <a:off x="1197864" y="1645920"/>
            <a:ext cx="6263640" cy="1252728"/>
          </a:xfrm>
          <a:prstGeom prst="rect">
            <a:avLst/>
          </a:prstGeom>
          <a:noFill/>
        </p:spPr>
        <p:txBody>
          <a:bodyPr wrap="none" lIns="0" rIns="0" tIns="0" bIns="0" anchor="t">
            <a:noAutofit/>
          </a:bodyPr>
          <a:lstStyle/>
          <a:p>
            <a:pPr algn="l">
              <a:lnSpc>
                <a:spcPct val="110000"/>
              </a:lnSpc>
              <a:spcBef>
                <a:spcPts val="0"/>
              </a:spcBef>
              <a:spcAft>
                <a:spcPts val="0"/>
              </a:spcAft>
            </a:pPr>
            <a:r>
              <a:rPr sz="3200" b="1">
                <a:solidFill>
                  <a:srgbClr val="000000"/>
                </a:solidFill>
                <a:latin typeface="Noto Sans CJK KR"/>
                <a:ea typeface="Noto Sans CJK KR"/>
              </a:rPr>
              <a:t>25% STAEformer</a:t>
            </a:r>
          </a:p>
          <a:p>
            <a:pPr algn="l">
              <a:lnSpc>
                <a:spcPct val="110000"/>
              </a:lnSpc>
              <a:spcBef>
                <a:spcPts val="0"/>
              </a:spcBef>
              <a:spcAft>
                <a:spcPts val="0"/>
              </a:spcAft>
            </a:pPr>
            <a:r>
              <a:rPr sz="3200" b="1">
                <a:solidFill>
                  <a:srgbClr val="000000"/>
                </a:solidFill>
                <a:latin typeface="Noto Sans CJK KR"/>
                <a:ea typeface="Noto Sans CJK KR"/>
              </a:rPr>
              <a:t>+ 75% ImputeFormer</a:t>
            </a:r>
          </a:p>
        </p:txBody>
      </p:sp>
      <p:sp>
        <p:nvSpPr>
          <p:cNvPr id="8" name="TextBox 7"/>
          <p:cNvSpPr txBox="1"/>
          <p:nvPr/>
        </p:nvSpPr>
        <p:spPr>
          <a:xfrm>
            <a:off x="1216152" y="3008376"/>
            <a:ext cx="6510528" cy="402336"/>
          </a:xfrm>
          <a:prstGeom prst="rect">
            <a:avLst/>
          </a:prstGeom>
          <a:noFill/>
        </p:spPr>
        <p:txBody>
          <a:bodyPr wrap="none" lIns="0" rIns="0" tIns="0" bIns="0" anchor="t">
            <a:noAutofit/>
          </a:bodyPr>
          <a:lstStyle/>
          <a:p>
            <a:pPr algn="l">
              <a:lnSpc>
                <a:spcPct val="110000"/>
              </a:lnSpc>
              <a:spcBef>
                <a:spcPts val="0"/>
              </a:spcBef>
              <a:spcAft>
                <a:spcPts val="0"/>
              </a:spcAft>
            </a:pPr>
            <a:r>
              <a:rPr sz="1700" b="0">
                <a:solidFill>
                  <a:srgbClr val="202020"/>
                </a:solidFill>
                <a:latin typeface="Noto Sans CJK KR"/>
                <a:ea typeface="Noto Sans CJK KR"/>
              </a:rPr>
              <a:t>Best of the four configurations tested.</a:t>
            </a:r>
          </a:p>
        </p:txBody>
      </p:sp>
      <p:sp>
        <p:nvSpPr>
          <p:cNvPr id="9" name="TextBox 8"/>
          <p:cNvSpPr txBox="1"/>
          <p:nvPr/>
        </p:nvSpPr>
        <p:spPr>
          <a:xfrm>
            <a:off x="8238744" y="1746504"/>
            <a:ext cx="3090672" cy="768096"/>
          </a:xfrm>
          <a:prstGeom prst="rect">
            <a:avLst/>
          </a:prstGeom>
          <a:noFill/>
        </p:spPr>
        <p:txBody>
          <a:bodyPr wrap="none" lIns="0" rIns="0" tIns="0" bIns="0" anchor="t">
            <a:noAutofit/>
          </a:bodyPr>
          <a:lstStyle/>
          <a:p>
            <a:pPr algn="l">
              <a:lnSpc>
                <a:spcPct val="110000"/>
              </a:lnSpc>
              <a:spcBef>
                <a:spcPts val="0"/>
              </a:spcBef>
              <a:spcAft>
                <a:spcPts val="0"/>
              </a:spcAft>
            </a:pPr>
            <a:r>
              <a:rPr sz="4300" b="1">
                <a:solidFill>
                  <a:srgbClr val="000000"/>
                </a:solidFill>
                <a:latin typeface="Noto Sans CJK KR"/>
                <a:ea typeface="Noto Sans CJK KR"/>
              </a:rPr>
              <a:t>0.78255</a:t>
            </a:r>
          </a:p>
        </p:txBody>
      </p:sp>
      <p:sp>
        <p:nvSpPr>
          <p:cNvPr id="10" name="TextBox 9"/>
          <p:cNvSpPr txBox="1"/>
          <p:nvPr/>
        </p:nvSpPr>
        <p:spPr>
          <a:xfrm>
            <a:off x="8257031" y="2670048"/>
            <a:ext cx="3145536" cy="347472"/>
          </a:xfrm>
          <a:prstGeom prst="rect">
            <a:avLst/>
          </a:prstGeom>
          <a:noFill/>
        </p:spPr>
        <p:txBody>
          <a:bodyPr wrap="none" lIns="0" rIns="0" tIns="0" bIns="0" anchor="t">
            <a:noAutofit/>
          </a:bodyPr>
          <a:lstStyle/>
          <a:p>
            <a:pPr algn="l">
              <a:lnSpc>
                <a:spcPct val="110000"/>
              </a:lnSpc>
              <a:spcBef>
                <a:spcPts val="0"/>
              </a:spcBef>
              <a:spcAft>
                <a:spcPts val="0"/>
              </a:spcAft>
            </a:pPr>
            <a:r>
              <a:rPr sz="1400" b="0">
                <a:solidFill>
                  <a:srgbClr val="202020"/>
                </a:solidFill>
                <a:latin typeface="Noto Sans CJK KR"/>
                <a:ea typeface="Noto Sans CJK KR"/>
              </a:rPr>
              <a:t>Best Kaggle Public score</a:t>
            </a:r>
          </a:p>
        </p:txBody>
      </p:sp>
      <p:sp>
        <p:nvSpPr>
          <p:cNvPr id="11" name="TextBox 10"/>
          <p:cNvSpPr txBox="1"/>
          <p:nvPr/>
        </p:nvSpPr>
        <p:spPr>
          <a:xfrm>
            <a:off x="8257031" y="3154680"/>
            <a:ext cx="3200400" cy="301752"/>
          </a:xfrm>
          <a:prstGeom prst="rect">
            <a:avLst/>
          </a:prstGeom>
          <a:noFill/>
        </p:spPr>
        <p:txBody>
          <a:bodyPr wrap="none" lIns="0" rIns="0" tIns="0" bIns="0" anchor="t">
            <a:noAutofit/>
          </a:bodyPr>
          <a:lstStyle/>
          <a:p>
            <a:pPr algn="l">
              <a:lnSpc>
                <a:spcPct val="110000"/>
              </a:lnSpc>
              <a:spcBef>
                <a:spcPts val="0"/>
              </a:spcBef>
              <a:spcAft>
                <a:spcPts val="0"/>
              </a:spcAft>
            </a:pPr>
            <a:r>
              <a:rPr sz="1210" b="0">
                <a:solidFill>
                  <a:srgbClr val="626262"/>
                </a:solidFill>
                <a:latin typeface="Noto Sans CJK KR"/>
                <a:ea typeface="Noto Sans CJK KR"/>
              </a:rPr>
              <a:t>+0.01429 over submission 003</a:t>
            </a:r>
          </a:p>
        </p:txBody>
      </p:sp>
      <p:cxnSp>
        <p:nvCxnSpPr>
          <p:cNvPr id="12" name="Connector 11"/>
          <p:cNvCxnSpPr/>
          <p:nvPr/>
        </p:nvCxnSpPr>
        <p:spPr>
          <a:xfrm>
            <a:off x="1197864" y="3849624"/>
            <a:ext cx="10168128" cy="0"/>
          </a:xfrm>
          <a:prstGeom prst="line">
            <a:avLst/>
          </a:prstGeom>
          <a:ln w="10160">
            <a:solidFill>
              <a:srgbClr val="202020"/>
            </a:solidFill>
          </a:ln>
          <a:effectLst/>
        </p:spPr>
      </p:cxnSp>
      <p:sp>
        <p:nvSpPr>
          <p:cNvPr id="13" name="TextBox 12"/>
          <p:cNvSpPr txBox="1"/>
          <p:nvPr/>
        </p:nvSpPr>
        <p:spPr>
          <a:xfrm>
            <a:off x="1216152" y="4133087"/>
            <a:ext cx="493776" cy="347472"/>
          </a:xfrm>
          <a:prstGeom prst="rect">
            <a:avLst/>
          </a:prstGeom>
          <a:noFill/>
        </p:spPr>
        <p:txBody>
          <a:bodyPr wrap="none" lIns="0" rIns="0" tIns="0" bIns="0" anchor="t">
            <a:noAutofit/>
          </a:bodyPr>
          <a:lstStyle/>
          <a:p>
            <a:pPr algn="l">
              <a:lnSpc>
                <a:spcPct val="110000"/>
              </a:lnSpc>
              <a:spcBef>
                <a:spcPts val="0"/>
              </a:spcBef>
              <a:spcAft>
                <a:spcPts val="0"/>
              </a:spcAft>
            </a:pPr>
            <a:r>
              <a:rPr sz="1600" b="1">
                <a:solidFill>
                  <a:srgbClr val="626262"/>
                </a:solidFill>
                <a:latin typeface="Noto Sans CJK KR"/>
                <a:ea typeface="Noto Sans CJK KR"/>
              </a:rPr>
              <a:t>01</a:t>
            </a:r>
          </a:p>
        </p:txBody>
      </p:sp>
      <p:sp>
        <p:nvSpPr>
          <p:cNvPr id="14" name="TextBox 13"/>
          <p:cNvSpPr txBox="1"/>
          <p:nvPr/>
        </p:nvSpPr>
        <p:spPr>
          <a:xfrm>
            <a:off x="1837943" y="4123944"/>
            <a:ext cx="9528048" cy="374904"/>
          </a:xfrm>
          <a:prstGeom prst="rect">
            <a:avLst/>
          </a:prstGeom>
          <a:noFill/>
        </p:spPr>
        <p:txBody>
          <a:bodyPr wrap="none" lIns="0" rIns="0" tIns="0" bIns="0" anchor="t">
            <a:noAutofit/>
          </a:bodyPr>
          <a:lstStyle/>
          <a:p>
            <a:pPr algn="l">
              <a:lnSpc>
                <a:spcPct val="110000"/>
              </a:lnSpc>
              <a:spcBef>
                <a:spcPts val="0"/>
              </a:spcBef>
              <a:spcAft>
                <a:spcPts val="0"/>
              </a:spcAft>
            </a:pPr>
            <a:r>
              <a:rPr sz="1800" b="0">
                <a:solidFill>
                  <a:srgbClr val="202020"/>
                </a:solidFill>
                <a:latin typeface="Noto Sans CJK KR"/>
                <a:ea typeface="Noto Sans CJK KR"/>
              </a:rPr>
              <a:t>ImputeFormer was the strongest single model.</a:t>
            </a:r>
          </a:p>
        </p:txBody>
      </p:sp>
      <p:sp>
        <p:nvSpPr>
          <p:cNvPr id="15" name="TextBox 14"/>
          <p:cNvSpPr txBox="1"/>
          <p:nvPr/>
        </p:nvSpPr>
        <p:spPr>
          <a:xfrm>
            <a:off x="1216152" y="4681727"/>
            <a:ext cx="493776" cy="347472"/>
          </a:xfrm>
          <a:prstGeom prst="rect">
            <a:avLst/>
          </a:prstGeom>
          <a:noFill/>
        </p:spPr>
        <p:txBody>
          <a:bodyPr wrap="none" lIns="0" rIns="0" tIns="0" bIns="0" anchor="t">
            <a:noAutofit/>
          </a:bodyPr>
          <a:lstStyle/>
          <a:p>
            <a:pPr algn="l">
              <a:lnSpc>
                <a:spcPct val="110000"/>
              </a:lnSpc>
              <a:spcBef>
                <a:spcPts val="0"/>
              </a:spcBef>
              <a:spcAft>
                <a:spcPts val="0"/>
              </a:spcAft>
            </a:pPr>
            <a:r>
              <a:rPr sz="1600" b="1">
                <a:solidFill>
                  <a:srgbClr val="626262"/>
                </a:solidFill>
                <a:latin typeface="Noto Sans CJK KR"/>
                <a:ea typeface="Noto Sans CJK KR"/>
              </a:rPr>
              <a:t>02</a:t>
            </a:r>
          </a:p>
        </p:txBody>
      </p:sp>
      <p:sp>
        <p:nvSpPr>
          <p:cNvPr id="16" name="TextBox 15"/>
          <p:cNvSpPr txBox="1"/>
          <p:nvPr/>
        </p:nvSpPr>
        <p:spPr>
          <a:xfrm>
            <a:off x="1837943" y="4672583"/>
            <a:ext cx="9528048" cy="374904"/>
          </a:xfrm>
          <a:prstGeom prst="rect">
            <a:avLst/>
          </a:prstGeom>
          <a:noFill/>
        </p:spPr>
        <p:txBody>
          <a:bodyPr wrap="none" lIns="0" rIns="0" tIns="0" bIns="0" anchor="t">
            <a:noAutofit/>
          </a:bodyPr>
          <a:lstStyle/>
          <a:p>
            <a:pPr algn="l">
              <a:lnSpc>
                <a:spcPct val="110000"/>
              </a:lnSpc>
              <a:spcBef>
                <a:spcPts val="0"/>
              </a:spcBef>
              <a:spcAft>
                <a:spcPts val="0"/>
              </a:spcAft>
            </a:pPr>
            <a:r>
              <a:rPr sz="1800" b="0">
                <a:solidFill>
                  <a:srgbClr val="202020"/>
                </a:solidFill>
                <a:latin typeface="Noto Sans CJK KR"/>
                <a:ea typeface="Noto Sans CJK KR"/>
              </a:rPr>
              <a:t>The ensemble added +0.00117 on the Public leaderboard.</a:t>
            </a:r>
          </a:p>
        </p:txBody>
      </p:sp>
      <p:sp>
        <p:nvSpPr>
          <p:cNvPr id="17" name="TextBox 16"/>
          <p:cNvSpPr txBox="1"/>
          <p:nvPr/>
        </p:nvSpPr>
        <p:spPr>
          <a:xfrm>
            <a:off x="1216152" y="5230368"/>
            <a:ext cx="493776" cy="347472"/>
          </a:xfrm>
          <a:prstGeom prst="rect">
            <a:avLst/>
          </a:prstGeom>
          <a:noFill/>
        </p:spPr>
        <p:txBody>
          <a:bodyPr wrap="none" lIns="0" rIns="0" tIns="0" bIns="0" anchor="t">
            <a:noAutofit/>
          </a:bodyPr>
          <a:lstStyle/>
          <a:p>
            <a:pPr algn="l">
              <a:lnSpc>
                <a:spcPct val="110000"/>
              </a:lnSpc>
              <a:spcBef>
                <a:spcPts val="0"/>
              </a:spcBef>
              <a:spcAft>
                <a:spcPts val="0"/>
              </a:spcAft>
            </a:pPr>
            <a:r>
              <a:rPr sz="1600" b="1">
                <a:solidFill>
                  <a:srgbClr val="626262"/>
                </a:solidFill>
                <a:latin typeface="Noto Sans CJK KR"/>
                <a:ea typeface="Noto Sans CJK KR"/>
              </a:rPr>
              <a:t>03</a:t>
            </a:r>
          </a:p>
        </p:txBody>
      </p:sp>
      <p:sp>
        <p:nvSpPr>
          <p:cNvPr id="18" name="TextBox 17"/>
          <p:cNvSpPr txBox="1"/>
          <p:nvPr/>
        </p:nvSpPr>
        <p:spPr>
          <a:xfrm>
            <a:off x="1837943" y="5221224"/>
            <a:ext cx="9528048" cy="374904"/>
          </a:xfrm>
          <a:prstGeom prst="rect">
            <a:avLst/>
          </a:prstGeom>
          <a:noFill/>
        </p:spPr>
        <p:txBody>
          <a:bodyPr wrap="none" lIns="0" rIns="0" tIns="0" bIns="0" anchor="t">
            <a:noAutofit/>
          </a:bodyPr>
          <a:lstStyle/>
          <a:p>
            <a:pPr algn="l">
              <a:lnSpc>
                <a:spcPct val="110000"/>
              </a:lnSpc>
              <a:spcBef>
                <a:spcPts val="0"/>
              </a:spcBef>
              <a:spcAft>
                <a:spcPts val="0"/>
              </a:spcAft>
            </a:pPr>
            <a:r>
              <a:rPr sz="1800" b="1">
                <a:solidFill>
                  <a:srgbClr val="202020"/>
                </a:solidFill>
                <a:latin typeface="Noto Sans CJK KR"/>
                <a:ea typeface="Noto Sans CJK KR"/>
              </a:rPr>
              <a:t>Next: train with time-block and spatial masks.</a:t>
            </a:r>
          </a:p>
        </p:txBody>
      </p:sp>
      <p:sp>
        <p:nvSpPr>
          <p:cNvPr id="19" name="TextBox 18"/>
          <p:cNvSpPr txBox="1"/>
          <p:nvPr/>
        </p:nvSpPr>
        <p:spPr>
          <a:xfrm>
            <a:off x="1837943" y="5751576"/>
            <a:ext cx="9528048" cy="310896"/>
          </a:xfrm>
          <a:prstGeom prst="rect">
            <a:avLst/>
          </a:prstGeom>
          <a:noFill/>
        </p:spPr>
        <p:txBody>
          <a:bodyPr wrap="none" lIns="0" rIns="0" tIns="0" bIns="0" anchor="t">
            <a:noAutofit/>
          </a:bodyPr>
          <a:lstStyle/>
          <a:p>
            <a:pPr algn="l">
              <a:lnSpc>
                <a:spcPct val="110000"/>
              </a:lnSpc>
              <a:spcBef>
                <a:spcPts val="0"/>
              </a:spcBef>
              <a:spcAft>
                <a:spcPts val="0"/>
              </a:spcAft>
            </a:pPr>
            <a:r>
              <a:rPr sz="1380" b="0">
                <a:solidFill>
                  <a:srgbClr val="626262"/>
                </a:solidFill>
                <a:latin typeface="Noto Sans CJK KR"/>
                <a:ea typeface="Noto Sans CJK KR"/>
              </a:rPr>
              <a:t>Then test window length, extra features and training duration one at a time.</a:t>
            </a:r>
          </a:p>
        </p:txBody>
      </p:sp>
      <p:sp>
        <p:nvSpPr>
          <p:cNvPr id="20" name="TextBox 19"/>
          <p:cNvSpPr txBox="1"/>
          <p:nvPr/>
        </p:nvSpPr>
        <p:spPr>
          <a:xfrm>
            <a:off x="1216152" y="6272784"/>
            <a:ext cx="9518904" cy="274320"/>
          </a:xfrm>
          <a:prstGeom prst="rect">
            <a:avLst/>
          </a:prstGeom>
          <a:noFill/>
        </p:spPr>
        <p:txBody>
          <a:bodyPr wrap="none" lIns="0" rIns="0" tIns="0" bIns="0" anchor="t">
            <a:noAutofit/>
          </a:bodyPr>
          <a:lstStyle/>
          <a:p>
            <a:pPr algn="l">
              <a:lnSpc>
                <a:spcPct val="110000"/>
              </a:lnSpc>
              <a:spcBef>
                <a:spcPts val="0"/>
              </a:spcBef>
              <a:spcAft>
                <a:spcPts val="0"/>
              </a:spcAft>
            </a:pPr>
            <a:r>
              <a:rPr sz="1150" b="0">
                <a:solidFill>
                  <a:srgbClr val="626262"/>
                </a:solidFill>
                <a:latin typeface="Noto Sans CJK KR"/>
                <a:ea typeface="Noto Sans CJK KR"/>
              </a:rPr>
              <a:t>Private leaderboard results are not yet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TrafficFlowBench 2026 — Traffic State Reconstruction</dc:title>
  <dc:subject>STAEformer, ImputeFormer and ensemble results, experiments 003–006</dc:subject>
  <dc:creator/>
  <cp:keywords>TrafficFlowBench, STAEformer, ImputeFormer, Kaggle, state reconstruction</cp:keywords>
  <dc:description>Built from verified local results. Design reference: user-provided ppt디자인.pdf.</dc:description>
  <cp:lastModifiedBy>Steve Canny</cp:lastModifiedBy>
  <cp:revision>1</cp:revision>
  <dcterms:created xsi:type="dcterms:W3CDTF">2013-01-27T09:14:16Z</dcterms:created>
  <dcterms:modified xsi:type="dcterms:W3CDTF">2013-01-27T09:15:58Z</dcterms:modified>
  <cp:category/>
</cp:coreProperties>
</file>